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spressif.com/sites/default/files/documentation/esp32-c6-wroom-1_wroom-1u_datasheet_en.pdf" TargetMode="External"/><Relationship Id="rId3" Type="http://schemas.openxmlformats.org/officeDocument/2006/relationships/hyperlink" Target="https://www.ti.com/lit/ds/symlink/cd74hc4067.pdf" TargetMode="External"/><Relationship Id="rId7" Type="http://schemas.openxmlformats.org/officeDocument/2006/relationships/hyperlink" Target="https://www.st.com/resource/en/application_note/an2606-stm32-microcontroller-system-memory-boot-mode-stmicroelectronics.pdf" TargetMode="External"/><Relationship Id="rId2" Type="http://schemas.openxmlformats.org/officeDocument/2006/relationships/hyperlink" Target="https://www.ti.com/lit/ds/symlink/drv5055.pdf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t.com/resource/en/datasheet/stm32c031f6.pdf" TargetMode="External"/><Relationship Id="rId5" Type="http://schemas.openxmlformats.org/officeDocument/2006/relationships/hyperlink" Target="https://www.wch-ic.com/downloads/CH224DS1_PDF.html" TargetMode="External"/><Relationship Id="rId10" Type="http://schemas.openxmlformats.org/officeDocument/2006/relationships/hyperlink" Target="https://www.lcsc.com/datasheet/lcsc_datasheet_1810010421_OPSCO-Optoelectronics-SK6812MINI-RGBW_C140407.pdf" TargetMode="External"/><Relationship Id="rId4" Type="http://schemas.openxmlformats.org/officeDocument/2006/relationships/hyperlink" Target="https://www.ti.com/lit/ds/symlink/tps54560.pdf" TargetMode="External"/><Relationship Id="rId9" Type="http://schemas.openxmlformats.org/officeDocument/2006/relationships/hyperlink" Target="https://docs.espressif.com/projects/esp-idf/en/stable/esp32c6/api-reference/system/ota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35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1 / 18   |   </a:t>
            </a:r>
            <a:r>
              <a:rPr lang="cs-CZ" sz="1050">
                <a:solidFill>
                  <a:srgbClr val="5A5A5A"/>
                </a:solidFill>
                <a:latin typeface="Calibri"/>
              </a:rPr>
              <a:t>CzechMate</a:t>
            </a:r>
            <a:r>
              <a:rPr sz="1050">
                <a:solidFill>
                  <a:srgbClr val="5A5A5A"/>
                </a:solidFill>
                <a:latin typeface="Calibri"/>
              </a:rPr>
              <a:t> — Alfréd Krutina (SPŠE Plzeň) — Elektrotechnická olympiáda EO2026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6858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CzechMate: </a:t>
            </a:r>
            <a:r>
              <a:rPr sz="32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elektronická</a:t>
            </a:r>
            <a:r>
              <a:rPr sz="32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2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šachovnice</a:t>
            </a:r>
            <a:r>
              <a:rPr sz="32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
s </a:t>
            </a:r>
            <a:r>
              <a:rPr sz="32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rozpoznáním</a:t>
            </a:r>
            <a:r>
              <a:rPr sz="32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2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typu</a:t>
            </a:r>
            <a:r>
              <a:rPr sz="32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a </a:t>
            </a:r>
            <a:r>
              <a:rPr sz="32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barvy</a:t>
            </a:r>
            <a:r>
              <a:rPr sz="32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2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figurek</a:t>
            </a:r>
            <a:endParaRPr sz="3200" b="1" i="0" dirty="0">
              <a:solidFill>
                <a:srgbClr val="1E3A5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6858000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Autor 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Alfréd Krutina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Škola 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Střední průmyslová škola elektrotechnická v Plzni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Soutěž 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Elektrotechnická olympiáda EO2026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0E0A85-5799-C749-F9D6-6E468B016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400" y="1695661"/>
            <a:ext cx="4318000" cy="4177877"/>
          </a:xfrm>
          <a:prstGeom prst="rect">
            <a:avLst/>
          </a:prstGeom>
          <a:ln w="9525">
            <a:solidFill>
              <a:srgbClr val="BAB4B0"/>
            </a:solidFill>
          </a:ln>
          <a:effectLst>
            <a:outerShdw blurRad="177800" dist="50800" dir="5400000" rotWithShape="0">
              <a:srgbClr val="5A5A5A">
                <a:alpha val="3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cs-CZ" sz="2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CzechMate</a:t>
            </a:r>
            <a:r>
              <a:rPr sz="2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v každém okamžiku ví, jaká figurka na poli stojí.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2 / 18   |   </a:t>
            </a:r>
            <a:r>
              <a:rPr lang="cs-CZ" sz="1050">
                <a:solidFill>
                  <a:srgbClr val="5A5A5A"/>
                </a:solidFill>
                <a:latin typeface="Calibri"/>
              </a:rPr>
              <a:t>CzechMate</a:t>
            </a:r>
            <a:r>
              <a:rPr sz="1050">
                <a:solidFill>
                  <a:srgbClr val="5A5A5A"/>
                </a:solidFill>
                <a:latin typeface="Calibri"/>
              </a:rPr>
              <a:t>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6217920" cy="4480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Dva</a:t>
            </a:r>
            <a:r>
              <a:rPr sz="16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senzory</a:t>
            </a:r>
            <a:r>
              <a:rPr sz="16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na</a:t>
            </a:r>
            <a:r>
              <a:rPr sz="16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pole</a:t>
            </a: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cs-CZ"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Díky nim deska dobře sejme figurku, i když neleží přesně na středu, a z magnetu pozná typ i barvu.</a:t>
            </a:r>
            <a:endParaRPr sz="1600" b="0" i="0" dirty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Pravidla</a:t>
            </a:r>
            <a:r>
              <a:rPr sz="16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jsou</a:t>
            </a:r>
            <a:r>
              <a:rPr sz="16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v </a:t>
            </a:r>
            <a:r>
              <a:rPr sz="16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desce</a:t>
            </a:r>
            <a:r>
              <a:rPr sz="16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Pozná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legální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tah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šach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mat,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rošádu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braní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mimochodem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ukáže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to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světlem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na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polích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Bez </a:t>
            </a:r>
            <a:r>
              <a:rPr sz="16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displeje</a:t>
            </a:r>
            <a:r>
              <a:rPr sz="16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Tahy se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nepřepisují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do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telefonu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při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hře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není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potřeba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koukat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na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obrazovku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I </a:t>
            </a:r>
            <a:r>
              <a:rPr sz="16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rozehraná</a:t>
            </a:r>
            <a:r>
              <a:rPr sz="16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pozice</a:t>
            </a:r>
            <a:r>
              <a:rPr sz="16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Na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prázdnou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desku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se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dá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postavit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koncovka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třeba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král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věž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proti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králi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a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hrát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hned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86600" y="1508760"/>
            <a:ext cx="4526280" cy="3337560"/>
          </a:xfrm>
          <a:prstGeom prst="rect">
            <a:avLst/>
          </a:prstGeom>
          <a:solidFill>
            <a:srgbClr val="E8EAED"/>
          </a:solidFill>
          <a:ln w="15240">
            <a:solidFill>
              <a:srgbClr val="B0B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[Fotka: Hotová deska </a:t>
            </a:r>
            <a:r>
              <a:rPr lang="cs-CZ" sz="12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CzechMate</a:t>
            </a:r>
            <a:r>
              <a:rPr sz="12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šikmo shora]</a:t>
            </a:r>
          </a:p>
          <a:p>
            <a:pPr algn="ctr">
              <a:spcBef>
                <a:spcPts val="600"/>
              </a:spcBef>
            </a:pPr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Sem vlož reálnou fotku rozsvícené </a:t>
            </a:r>
            <a:r>
              <a:rPr lang="cs-CZ"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šachovnice</a:t>
            </a:r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s figurkami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Samotná kontaktní matice na rozpoznání figurek nestačí.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3 / 18   |   </a:t>
            </a:r>
            <a:r>
              <a:rPr lang="cs-CZ" sz="1050">
                <a:solidFill>
                  <a:srgbClr val="5A5A5A"/>
                </a:solidFill>
                <a:latin typeface="Calibri"/>
              </a:rPr>
              <a:t>CzechMate</a:t>
            </a:r>
            <a:r>
              <a:rPr sz="1050">
                <a:solidFill>
                  <a:srgbClr val="5A5A5A"/>
                </a:solidFill>
                <a:latin typeface="Calibri"/>
              </a:rPr>
              <a:t>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577840" cy="4572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Jen spínače.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První verze poznala obsazené pole a prázdné pole. Pěšce od dámy ani bílou od černé ne.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Hallův senzor. </a:t>
            </a:r>
            <a:r>
              <a:rPr lang="cs-CZ"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 CzechMate je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pod polem, napájený 3,3 V. Bez magnetu dává 1,65 V. Do zhruba ±22 mT jde výstup tempem 60 mV na militesla.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Polarita je barva.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Jižní pól zvedne napětí nad 1,65 V, severní ho stáhne pod něj. Černé figurky mají k označené straně senzoru jižní pól, bílé severní.</a:t>
            </a:r>
          </a:p>
        </p:txBody>
      </p:sp>
      <p:pic>
        <p:nvPicPr>
          <p:cNvPr id="8" name="Picture 7" descr="hallgra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1420000"/>
            <a:ext cx="5300000" cy="1850000"/>
          </a:xfrm>
          <a:prstGeom prst="rect">
            <a:avLst/>
          </a:prstGeom>
        </p:spPr>
      </p:pic>
      <p:pic>
        <p:nvPicPr>
          <p:cNvPr id="9" name="Picture 8" descr="hallgraf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3380000"/>
            <a:ext cx="5300000" cy="2835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Dva Hallovy senzory na pole a kvadratický součet eliminují nepřesné položení.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4 / 18   |   </a:t>
            </a:r>
            <a:r>
              <a:rPr lang="cs-CZ" sz="1050">
                <a:solidFill>
                  <a:srgbClr val="5A5A5A"/>
                </a:solidFill>
                <a:latin typeface="Calibri"/>
              </a:rPr>
              <a:t>CzechMate</a:t>
            </a:r>
            <a:r>
              <a:rPr sz="1050">
                <a:solidFill>
                  <a:srgbClr val="5A5A5A"/>
                </a:solidFill>
                <a:latin typeface="Calibri"/>
              </a:rPr>
              <a:t>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1091672" cy="17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lang="cs-CZ" sz="1600" b="1" i="0">
                <a:solidFill>
                  <a:srgbClr val="1E3A5F"/>
                </a:solidFill>
                <a:latin typeface="Calibri" panose="020F0502020204030204" pitchFamily="34" charset="0"/>
                <a:ea typeface="Calibri"/>
                <a:cs typeface="Calibri"/>
              </a:rPr>
              <a:t>Dva senzory, 128 celkem.</a:t>
            </a:r>
            <a:r>
              <a:rPr lang="cs-CZ" sz="1600" i="0">
                <a:solidFill>
                  <a:srgbClr val="1A1A1A"/>
                </a:solidFill>
                <a:latin typeface="Calibri" panose="020F0502020204030204" pitchFamily="34" charset="0"/>
                <a:ea typeface="Calibri"/>
                <a:cs typeface="Calibri"/>
              </a:rPr>
              <a:t> Figurka nikdy nesedí přesně uprostřed. Senzory měří odchylku od klidu prázdného pole a malý posun nevadí.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lang="cs-CZ" sz="1600" b="1" i="0">
                <a:solidFill>
                  <a:srgbClr val="1E3A5F"/>
                </a:solidFill>
                <a:latin typeface="Calibri" panose="020F0502020204030204" pitchFamily="34" charset="0"/>
                <a:ea typeface="Calibri"/>
                <a:cs typeface="Calibri"/>
              </a:rPr>
              <a:t>Jedno číslo ze dvou senzorů.</a:t>
            </a:r>
            <a:r>
              <a:rPr lang="cs-CZ" sz="1600" i="0">
                <a:solidFill>
                  <a:srgbClr val="1A1A1A"/>
                </a:solidFill>
                <a:latin typeface="Calibri" panose="020F0502020204030204" pitchFamily="34" charset="0"/>
                <a:ea typeface="Calibri"/>
                <a:cs typeface="Calibri"/>
              </a:rPr>
              <a:t> Posun změní odmocninu ze součtu čtverců míň než údaj z jednoho senzoru. Po určení typu drží 20 % hystereze a chvění ruky typ nepřepne.</a:t>
            </a:r>
            <a:endParaRPr sz="1600" i="0" dirty="0">
              <a:solidFill>
                <a:srgbClr val="1A1A1A"/>
              </a:solidFill>
              <a:latin typeface="Calibri" panose="020F0502020204030204" pitchFamily="34" charset="0"/>
              <a:ea typeface="Calibri"/>
              <a:cs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699B974-75ED-8B8D-8A7D-2281858E2CC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086166" y="2514599"/>
            <a:ext cx="8019667" cy="37199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Čtyři stejné desky, jeden výrobní návrh.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5 / 18   |   </a:t>
            </a:r>
            <a:r>
              <a:rPr lang="cs-CZ" sz="1050">
                <a:solidFill>
                  <a:srgbClr val="5A5A5A"/>
                </a:solidFill>
                <a:latin typeface="Calibri"/>
              </a:rPr>
              <a:t>CzechMate</a:t>
            </a:r>
            <a:r>
              <a:rPr sz="1050">
                <a:solidFill>
                  <a:srgbClr val="5A5A5A"/>
                </a:solidFill>
                <a:latin typeface="Calibri"/>
              </a:rPr>
              <a:t>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6172200" cy="46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Jeden návrh, čtyři kusy.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Každá deska má 16 polí. V KiCadu je to jeden návrh. Menší deska se líp oživuje a vejde se do levnějšího rozměru.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Osazení není stejné.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Na první desce je ESP32-C6 a napájení. Na dalších třech je jen měření: malý procesor, přepínače, Hallovy senzory a diody.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Tři desky jsou záměnné.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Řídicí modul se na ně nedává. Měřicí desky jdou mezi sebou vyměnit.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4F5C7A-9337-20FD-C72C-CECD346D0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108" y="1422400"/>
            <a:ext cx="4771292" cy="4724400"/>
          </a:xfrm>
          <a:prstGeom prst="rect">
            <a:avLst/>
          </a:prstGeom>
          <a:ln w="9525">
            <a:solidFill>
              <a:srgbClr val="BAB4B0"/>
            </a:solidFill>
          </a:ln>
          <a:effectLst>
            <a:outerShdw blurRad="177800" dist="50800" dir="5400000" rotWithShape="0">
              <a:srgbClr val="5A5A5A">
                <a:alpha val="38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Každá čtvrtina si svých 32 senzorů přepíná sama.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6 / 18   |   </a:t>
            </a:r>
            <a:r>
              <a:rPr lang="cs-CZ" sz="1050">
                <a:solidFill>
                  <a:srgbClr val="5A5A5A"/>
                </a:solidFill>
                <a:latin typeface="Calibri"/>
              </a:rPr>
              <a:t>CzechMate</a:t>
            </a:r>
            <a:r>
              <a:rPr sz="1050">
                <a:solidFill>
                  <a:srgbClr val="5A5A5A"/>
                </a:solidFill>
                <a:latin typeface="Calibri"/>
              </a:rPr>
              <a:t>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983480" cy="46634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Měření po čtvrtinách.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Sto dvacet osm analogových cest do jednoho procesoru by chytilo rušení. Každá čtvrtina má vlastní malý procesor a svých 16 polí.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Dva přepínače naráz.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 pole jsou dva senzory. Přepínače je připojí na dva analogové vstupy ve stejný okamžik.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Po I2C už jen výsledek.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Malý procesor pozná, co na poli stojí, a dál posílá typ a barvu. Ne surové vzorky.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B2C4A4-A7B7-0281-DA33-216AADFD3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400" y="2204642"/>
            <a:ext cx="5969000" cy="2829716"/>
          </a:xfrm>
          <a:prstGeom prst="rect">
            <a:avLst/>
          </a:prstGeom>
          <a:ln w="9525">
            <a:solidFill>
              <a:srgbClr val="BAB4B0"/>
            </a:solidFill>
          </a:ln>
          <a:effectLst>
            <a:outerShdw blurRad="177800" dist="50800" dir="5400000" rotWithShape="0">
              <a:srgbClr val="5A5A5A">
                <a:alpha val="38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U každého pole je dvojice senzorů a kondenzátor na napájení.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7 / 18   |   </a:t>
            </a:r>
            <a:r>
              <a:rPr lang="cs-CZ" sz="1050">
                <a:solidFill>
                  <a:srgbClr val="5A5A5A"/>
                </a:solidFill>
                <a:latin typeface="Calibri"/>
              </a:rPr>
              <a:t>CzechMate</a:t>
            </a:r>
            <a:r>
              <a:rPr sz="1050">
                <a:solidFill>
                  <a:srgbClr val="5A5A5A"/>
                </a:solidFill>
                <a:latin typeface="Calibri"/>
              </a:rPr>
              <a:t>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983480" cy="46634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32 senzorů na čtvrtinu.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Šestnáct polí, u každého dva senzory. Jeden přepínač bere první, druhý ten druhý.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Čisté 3,3 V.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Na něm měření stojí, proto je kondenzátor přímo u senzorů.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Klid si deska uloží.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Každý senzor má trochu jinou nulu. U prázdné šachovnice se změří a dál se počítá jen odchylka.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B03BE9-4059-0D5B-C981-F1BC7877B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423" y="1422400"/>
            <a:ext cx="5693977" cy="4724400"/>
          </a:xfrm>
          <a:prstGeom prst="rect">
            <a:avLst/>
          </a:prstGeom>
          <a:ln w="9525">
            <a:solidFill>
              <a:srgbClr val="BAB4B0"/>
            </a:solidFill>
          </a:ln>
          <a:effectLst>
            <a:outerShdw blurRad="177800" dist="50800" dir="5400000" rotWithShape="0">
              <a:srgbClr val="5A5A5A">
                <a:alpha val="38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ESP32-C6 umí naprogramovat všechny čtyři STM32 po stejné I2C sběrnici.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8 / 18   |   </a:t>
            </a:r>
            <a:r>
              <a:rPr lang="cs-CZ" sz="1050">
                <a:solidFill>
                  <a:srgbClr val="5A5A5A"/>
                </a:solidFill>
                <a:latin typeface="Calibri"/>
              </a:rPr>
              <a:t>CzechMate</a:t>
            </a:r>
            <a:r>
              <a:rPr sz="1050">
                <a:solidFill>
                  <a:srgbClr val="5A5A5A"/>
                </a:solidFill>
                <a:latin typeface="Calibri"/>
              </a:rPr>
              <a:t>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074920" cy="46634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Jedna sběrnice, čtyři resety.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Procesory na čtvrtinách mají společná data, hodiny a vstup do programování. Reset má každý vlastní, vede ho ESP32-C6.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Stejná adresa bootloaderu.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Kdyby se hlásily všechny naráz, na sběrnici se srazí.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Nahrává se po jednom.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ESP32 tři čipy drží v resetu a pustí jen jeden. Pak další. Kabel se nepřepojuje.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Tlačítka.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Na desce mají odpor a kondenzátor, ať nezákmitají.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7F1BB7-4EBC-F2C9-D617-8E47493C5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400" y="2115972"/>
            <a:ext cx="5969000" cy="3261056"/>
          </a:xfrm>
          <a:prstGeom prst="rect">
            <a:avLst/>
          </a:prstGeom>
          <a:ln w="9525">
            <a:solidFill>
              <a:srgbClr val="BAB4B0"/>
            </a:solidFill>
          </a:ln>
          <a:effectLst>
            <a:outerShdw blurRad="177800" dist="50800" dir="5400000" rotWithShape="0">
              <a:srgbClr val="5A5A5A">
                <a:alpha val="38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Napájení odděluje proud diod od měření na 3,3 V.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9 / 18   |   </a:t>
            </a:r>
            <a:r>
              <a:rPr lang="cs-CZ" sz="1050">
                <a:solidFill>
                  <a:srgbClr val="5A5A5A"/>
                </a:solidFill>
                <a:latin typeface="Calibri"/>
              </a:rPr>
              <a:t>CzechMate</a:t>
            </a:r>
            <a:r>
              <a:rPr sz="1050">
                <a:solidFill>
                  <a:srgbClr val="5A5A5A"/>
                </a:solidFill>
                <a:latin typeface="Calibri"/>
              </a:rPr>
              <a:t>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349240" cy="2971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15 V z USB-C. 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Z toho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diody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mohou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svítit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naplno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Dvě</a:t>
            </a:r>
            <a:r>
              <a:rPr sz="16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větve</a:t>
            </a:r>
            <a:r>
              <a:rPr sz="16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na</a:t>
            </a:r>
            <a:r>
              <a:rPr sz="16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5 V.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Jedna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je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jen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pro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diody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druhá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pro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zbytek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desky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Když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se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rozsvítí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víc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polí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nestrhne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to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napětí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procesorům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3,3 V pro </a:t>
            </a:r>
            <a:r>
              <a:rPr sz="16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měření</a:t>
            </a:r>
            <a:r>
              <a:rPr sz="16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Jde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z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té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druhé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větve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živí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procesory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přepínače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Hallovy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senzory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Na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jeho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klidu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stojí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celé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měření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6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I z </a:t>
            </a:r>
            <a:r>
              <a:rPr sz="16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obyčejných</a:t>
            </a:r>
            <a:r>
              <a:rPr sz="16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5 V. 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Deska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naběhne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třeba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z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portu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počítače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Počítá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se ale s 15 V,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jinak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diody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nemají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plný</a:t>
            </a:r>
            <a:r>
              <a:rPr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jas.</a:t>
            </a:r>
            <a:endParaRPr sz="1600" b="0" i="0" dirty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407408"/>
          <a:ext cx="534924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Napájecí větev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k čemu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při 5 V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při 15 V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3A5F"/>
                          </a:solidFill>
                          <a:latin typeface="Calibri"/>
                        </a:rPr>
                        <a:t>3,3 V, senzory a procesory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měnič na 3,3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~1,0 A (3,3 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~1,0 A (3,3 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3A5F"/>
                          </a:solidFill>
                          <a:latin typeface="Calibri"/>
                        </a:rPr>
                        <a:t>5 V, jen diody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samostatný měnič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~0,3 A (1,5 W)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až 3,2 A (16 W)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3A5F"/>
                          </a:solidFill>
                          <a:latin typeface="Calibri"/>
                        </a:rPr>
                        <a:t>Celá deska</a:t>
                      </a:r>
                    </a:p>
                  </a:txBody>
                  <a:tcPr>
                    <a:solidFill>
                      <a:srgbClr val="EB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3A5F"/>
                          </a:solidFill>
                          <a:latin typeface="Calibri"/>
                        </a:rPr>
                        <a:t>součet větví</a:t>
                      </a:r>
                    </a:p>
                  </a:txBody>
                  <a:tcPr>
                    <a:solidFill>
                      <a:srgbClr val="EB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3A5F"/>
                          </a:solidFill>
                          <a:latin typeface="Calibri"/>
                        </a:rPr>
                        <a:t>~4,8 W</a:t>
                      </a:r>
                    </a:p>
                  </a:txBody>
                  <a:tcPr>
                    <a:solidFill>
                      <a:srgbClr val="EB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3A5F"/>
                          </a:solidFill>
                          <a:latin typeface="Calibri"/>
                        </a:rPr>
                        <a:t>~19,5 W</a:t>
                      </a:r>
                    </a:p>
                  </a:txBody>
                  <a:tcPr>
                    <a:solidFill>
                      <a:srgbClr val="EB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3A5F"/>
                          </a:solidFill>
                          <a:latin typeface="Calibri"/>
                        </a:rPr>
                        <a:t>Vstup USB-C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5 V nebo 15 V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~0,95 A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1A1A1A"/>
                          </a:solidFill>
                          <a:latin typeface="Calibri"/>
                        </a:rPr>
                        <a:t>~1,35 A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6C0D2A7D-E077-7254-E7CD-6700939EC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800" y="1473200"/>
            <a:ext cx="3403600" cy="2392206"/>
          </a:xfrm>
          <a:prstGeom prst="rect">
            <a:avLst/>
          </a:prstGeom>
          <a:ln w="9525">
            <a:solidFill>
              <a:srgbClr val="BAB4B0"/>
            </a:solidFill>
          </a:ln>
          <a:effectLst>
            <a:outerShdw blurRad="177800" dist="50800" dir="5400000" rotWithShape="0">
              <a:srgbClr val="5A5A5A">
                <a:alpha val="38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776E822-2E4D-802D-7756-3F4E599A6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800" y="4043206"/>
            <a:ext cx="3403600" cy="2325696"/>
          </a:xfrm>
          <a:prstGeom prst="rect">
            <a:avLst/>
          </a:prstGeom>
          <a:ln w="9525">
            <a:solidFill>
              <a:srgbClr val="BAB4B0"/>
            </a:solidFill>
          </a:ln>
          <a:effectLst>
            <a:outerShdw blurRad="177800" dist="50800" dir="5400000" rotWithShape="0">
              <a:srgbClr val="5A5A5A">
                <a:alpha val="38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Pod každým polem je dioda. Tah je vidět přímo na desce.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10 / 18   |   </a:t>
            </a:r>
            <a:r>
              <a:rPr lang="cs-CZ" sz="1050">
                <a:solidFill>
                  <a:srgbClr val="5A5A5A"/>
                </a:solidFill>
                <a:latin typeface="Calibri"/>
              </a:rPr>
              <a:t>CzechMate</a:t>
            </a:r>
            <a:r>
              <a:rPr sz="1050">
                <a:solidFill>
                  <a:srgbClr val="5A5A5A"/>
                </a:solidFill>
                <a:latin typeface="Calibri"/>
              </a:rPr>
              <a:t>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166360" cy="3017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Dioda pod každým polem.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Umí barvu i samostatnou bílou. U sebe má kondenzátor na větvi, která živí jen diody.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3,3 V nestačí.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Signál z ESP32-C6 je 3,3 V, diody chtějí 5 V. Mezi nimi je převodník úrovně.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Barvy mají význam.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Zelená jsou pole, kam se figurka smí položit. Červená je chyba, šach nebo jiná figurka, než která se zvedla.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572000"/>
            <a:ext cx="5166360" cy="1600200"/>
          </a:xfrm>
          <a:prstGeom prst="rect">
            <a:avLst/>
          </a:prstGeom>
          <a:solidFill>
            <a:srgbClr val="E8EAED"/>
          </a:solidFill>
          <a:ln w="15240">
            <a:solidFill>
              <a:srgbClr val="B0B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[Fotka: Podsvícení polí při legálním tahu (zelená) a při chybě (červená)]</a:t>
            </a:r>
          </a:p>
          <a:p>
            <a:pPr algn="ctr">
              <a:spcBef>
                <a:spcPts val="600"/>
              </a:spcBef>
            </a:pPr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Sem vlož fotku rozsvícené desky při zvednutí figurky</a:t>
            </a:r>
          </a:p>
        </p:txBody>
      </p:sp>
      <p:sp>
        <p:nvSpPr>
          <p:cNvPr id="406" name="Schema placeholder 10-406"/>
          <p:cNvSpPr/>
          <p:nvPr/>
        </p:nvSpPr>
        <p:spPr>
          <a:xfrm>
            <a:off x="5861304" y="1940313"/>
            <a:ext cx="5788152" cy="3571732"/>
          </a:xfrm>
          <a:prstGeom prst="rect">
            <a:avLst/>
          </a:prstGeom>
          <a:solidFill>
            <a:srgbClr val="E8EAED"/>
          </a:solidFill>
          <a:ln w="15240">
            <a:solidFill>
              <a:srgbClr val="B0B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[</a:t>
            </a:r>
            <a:r>
              <a:rPr sz="1200" b="0" i="0" dirty="0" err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Schéma</a:t>
            </a:r>
            <a:r>
              <a:rPr sz="1200" b="0" i="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200" b="0" i="0" dirty="0" err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diody</a:t>
            </a:r>
            <a:r>
              <a:rPr sz="1200" b="0" i="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pod poli]</a:t>
            </a:r>
          </a:p>
          <a:p>
            <a:pPr algn="ctr">
              <a:spcBef>
                <a:spcPts val="600"/>
              </a:spcBef>
            </a:pPr>
            <a:r>
              <a:rPr sz="1100" b="0" i="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Sem </a:t>
            </a:r>
            <a:r>
              <a:rPr sz="1100" b="0" i="0" dirty="0" err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vlož</a:t>
            </a:r>
            <a:r>
              <a:rPr sz="1100" b="0" i="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dirty="0" err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schéma</a:t>
            </a:r>
            <a:r>
              <a:rPr sz="1100" b="0" i="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dirty="0" err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diod</a:t>
            </a:r>
            <a:r>
              <a:rPr sz="1100" b="0" i="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a </a:t>
            </a:r>
            <a:r>
              <a:rPr sz="1100" b="0" i="0" dirty="0" err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kondenzátorů</a:t>
            </a:r>
            <a:r>
              <a:rPr sz="1100" b="0" i="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dirty="0" err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na</a:t>
            </a:r>
            <a:r>
              <a:rPr sz="1100" b="0" i="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dirty="0" err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jejich</a:t>
            </a:r>
            <a:r>
              <a:rPr sz="1100" b="0" i="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dirty="0" err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napájení</a:t>
            </a:r>
            <a:r>
              <a:rPr lang="cs-CZ" sz="1100" b="0" i="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nebo mřížku kterou se zajistí to že každé pole je jinak podsvícené</a:t>
            </a:r>
            <a:endParaRPr sz="1100" b="0" i="0" dirty="0">
              <a:solidFill>
                <a:srgbClr val="5A5A5A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Na desce je jeden program. FreeRTOS ho rozdělí na úlohy.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11 / 18   |   </a:t>
            </a:r>
            <a:r>
              <a:rPr lang="cs-CZ" sz="1050">
                <a:solidFill>
                  <a:srgbClr val="5A5A5A"/>
                </a:solidFill>
                <a:latin typeface="Calibri"/>
              </a:rPr>
              <a:t>CzechMate</a:t>
            </a:r>
            <a:r>
              <a:rPr sz="1050">
                <a:solidFill>
                  <a:srgbClr val="5A5A5A"/>
                </a:solidFill>
                <a:latin typeface="Calibri"/>
              </a:rPr>
              <a:t>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0000"/>
            <a:ext cx="11091672" cy="485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Firmware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na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ESP32-C6 je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jeden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program. Po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startu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se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založí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fronty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úlohy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Každá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dělá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jednu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věc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čeká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na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zprávu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15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Úlohy</a:t>
            </a:r>
            <a:endParaRPr sz="1500" b="1" i="0" dirty="0">
              <a:solidFill>
                <a:srgbClr val="1E3A5F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squares_task</a:t>
            </a:r>
            <a:r>
              <a:rPr sz="14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cs-CZ"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čte šachovnici. Ze čtyř STM32 po I2C bere páry Hallových senzorů a z energie pozná typ a barvu.</a:t>
            </a:r>
            <a:endParaRPr sz="1400" b="0" i="0" dirty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button_task</a:t>
            </a:r>
            <a:r>
              <a:rPr sz="14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cs-CZ"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čte tlačítka. Dlouhý stisk a dvojstisk pozná, hra je nepoužije.</a:t>
            </a:r>
            <a:endParaRPr sz="1400" b="0" i="0" dirty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game_task</a:t>
            </a:r>
            <a:r>
              <a:rPr sz="14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pravidla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stav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partie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cs-CZ"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Hlavní </a:t>
            </a:r>
            <a:r>
              <a:rPr lang="cs-CZ"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task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led_task</a:t>
            </a:r>
            <a:r>
              <a:rPr sz="14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cs-CZ"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obsluhuje d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iody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na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polích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uart_task</a:t>
            </a:r>
            <a:r>
              <a:rPr sz="14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USB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konzole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Do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konce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startu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desky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je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pozastavená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web_server_task</a:t>
            </a:r>
            <a:r>
              <a:rPr sz="14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Wi-Fi, HTTP a WebSocket.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ha_light_task</a:t>
            </a:r>
            <a:r>
              <a:rPr sz="14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Home Assistant,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až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když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je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deska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na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Wi-Fi.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Bluetooth 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NimBLE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Startuje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zvlášť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ne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jako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ostatní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úlohy</a:t>
            </a:r>
            <a:r>
              <a:rPr sz="14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15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Jak </a:t>
            </a:r>
            <a:r>
              <a:rPr sz="15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si</a:t>
            </a:r>
            <a:r>
              <a:rPr sz="15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úlohy</a:t>
            </a:r>
            <a:r>
              <a:rPr sz="15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povídají</a:t>
            </a:r>
            <a:endParaRPr sz="1500" b="1" i="0" dirty="0">
              <a:solidFill>
                <a:srgbClr val="1E3A5F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cs-CZ"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Úlohy mezi sebou nevolají funkce. Zpráva jde do fronty a příjemce ji zpracuje až ve vlastním čase. Fronta má konečný počet míst, plná fronta další zprávu nepřijme. Společná data drží mutex. Úloha mutex vezme, data přečte nebo zapíše a mutex pustí. squares_task čte Hallovy senzory a změnu na poli vloží do fronty. game_task bere tah z fronty a drží pravidla.</a:t>
            </a:r>
            <a:endParaRPr sz="1400" b="0" i="0" dirty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Tři reálné inženýrské problémy rozhodly o výsledném zapojení desky.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12 / 18   |   </a:t>
            </a:r>
            <a:r>
              <a:rPr lang="cs-CZ" sz="1050">
                <a:solidFill>
                  <a:srgbClr val="5A5A5A"/>
                </a:solidFill>
                <a:latin typeface="Calibri"/>
              </a:rPr>
              <a:t>CzechMate</a:t>
            </a:r>
            <a:r>
              <a:rPr sz="1050">
                <a:solidFill>
                  <a:srgbClr val="5A5A5A"/>
                </a:solidFill>
                <a:latin typeface="Calibri"/>
              </a:rPr>
              <a:t> — Alfréd Krutina (SPŠE Plzeň) — Elektrotechnická olympiáda EO2026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3520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352044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636776"/>
            <a:ext cx="3227832" cy="43251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15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1. Šum a chvění při pokládání figurky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</a:pPr>
            <a:r>
              <a:rPr sz="12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PROBLÉM: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Pevné prahy z laboratoře na skutečné desce selhávaly. Ruka se při pokládání chvěje a hodnota na hraně prahu přepínala typ, třeba střelce a věž.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2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ŘEŠENÍ: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Dva senzory na poli a jedna veličina z obou.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Klidová hodnota zvlášť pro každé pole.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Po určení typu 20 % hystereze a krátké čekání, než se údaj vezme vážně. U senzorů je kondenzátor.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4256" y="1508760"/>
            <a:ext cx="3520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4256" y="1508760"/>
            <a:ext cx="3520440" cy="54864"/>
          </a:xfrm>
          <a:prstGeom prst="rect">
            <a:avLst/>
          </a:prstGeom>
          <a:solidFill>
            <a:srgbClr val="13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636776"/>
            <a:ext cx="3227832" cy="43251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1500" b="1" i="0">
                <a:solidFill>
                  <a:srgbClr val="137333"/>
                </a:solidFill>
                <a:latin typeface="Calibri"/>
                <a:ea typeface="Calibri"/>
                <a:cs typeface="Calibri"/>
              </a:rPr>
              <a:t>2. Rušení měření proudem diod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</a:pPr>
            <a:r>
              <a:rPr sz="1200" b="1" i="0">
                <a:solidFill>
                  <a:srgbClr val="137333"/>
                </a:solidFill>
                <a:latin typeface="Calibri"/>
                <a:ea typeface="Calibri"/>
                <a:cs typeface="Calibri"/>
              </a:rPr>
              <a:t>PROBLÉM: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Když se rozsvítí hodně diod naráz, odběr jde do několika ampér a napětí se zavlní. Hallův senzor z toho napětí odvozuje výstup, takže se rozhází i údaj o figurce.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200" b="1" i="0">
                <a:solidFill>
                  <a:srgbClr val="137333"/>
                </a:solidFill>
                <a:latin typeface="Calibri"/>
                <a:ea typeface="Calibri"/>
                <a:cs typeface="Calibri"/>
              </a:rPr>
              <a:t>ŘEŠENÍ: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Samostatný měnič jen pro diody a druhý pro zbytek desky.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Další měnič drží 3,3 V pro měření. U diod jsou blokovací kondenzátory.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9872" y="1508760"/>
            <a:ext cx="3520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19872" y="1508760"/>
            <a:ext cx="3520440" cy="54864"/>
          </a:xfrm>
          <a:prstGeom prst="rect">
            <a:avLst/>
          </a:prstGeom>
          <a:solidFill>
            <a:srgbClr val="B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66176" y="1636776"/>
            <a:ext cx="3227832" cy="43251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1500" b="1" i="0">
                <a:solidFill>
                  <a:srgbClr val="B06000"/>
                </a:solidFill>
                <a:latin typeface="Calibri"/>
                <a:ea typeface="Calibri"/>
                <a:cs typeface="Calibri"/>
              </a:rPr>
              <a:t>3. Čtyři procesory na jedné sběrnici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</a:pPr>
            <a:r>
              <a:rPr sz="1200" b="1" i="0">
                <a:solidFill>
                  <a:srgbClr val="B06000"/>
                </a:solidFill>
                <a:latin typeface="Calibri"/>
                <a:ea typeface="Calibri"/>
                <a:cs typeface="Calibri"/>
              </a:rPr>
              <a:t>PROBLÉM: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Čtyři stejné procesory na čtvrtinách mají z výroby stejnou adresu bootloaderu. Když se při nahrávání hlásily všechny, na sběrnici se to srazilo.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200" b="1" i="0">
                <a:solidFill>
                  <a:srgbClr val="B06000"/>
                </a:solidFill>
                <a:latin typeface="Calibri"/>
                <a:ea typeface="Calibri"/>
                <a:cs typeface="Calibri"/>
              </a:rPr>
              <a:t>ŘEŠENÍ: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Data a hodiny jsou společné, reset má každý vlastní.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ESP32 při programování pustí z resetu vždy jen jeden. Celá deska se aktualizuje bez přepojování kabelu.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Aplikace desku ovládá. Pravidla zůstávají na desce.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13 / 18   |   </a:t>
            </a:r>
            <a:r>
              <a:rPr lang="cs-CZ" sz="1050">
                <a:solidFill>
                  <a:srgbClr val="5A5A5A"/>
                </a:solidFill>
                <a:latin typeface="Calibri"/>
              </a:rPr>
              <a:t>CzechMate</a:t>
            </a:r>
            <a:r>
              <a:rPr sz="1050">
                <a:solidFill>
                  <a:srgbClr val="5A5A5A"/>
                </a:solidFill>
                <a:latin typeface="Calibri"/>
              </a:rPr>
              <a:t>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669280" cy="46634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Aplikace</a:t>
            </a:r>
            <a:r>
              <a:rPr sz="15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cs-CZ" sz="15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Zobrazuje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partii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Šachy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nepočítá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pravidla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zůstávají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na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desce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Bluetooth. 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Stav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hry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tahy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krátké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příkazy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Wi-Fi.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Větší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data.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Když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Bluetooth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spadne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pokračuje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se po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síti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16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Nový firmware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Flash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má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dva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oddíly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Běží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jeden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Nový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obraz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se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zapíše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do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druhého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deska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ho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zkontroluje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přepne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na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něj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restartuje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se.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Když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nenaběhne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vrátí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se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starý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Jde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to </a:t>
            </a:r>
            <a:r>
              <a:rPr lang="cs-CZ"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dvěmi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cestami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Z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internetu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když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je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deska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na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domácí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Wi-Fi. Po Bluetooth po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částech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a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když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linka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spadne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zápis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naváže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Průběh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je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vidět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na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diodách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příjem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kontrola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restart.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Přehrání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programu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ve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STM32 po I2C je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jiná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věc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to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není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tahle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aktualizace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Když</a:t>
            </a:r>
            <a:r>
              <a:rPr sz="15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 se </a:t>
            </a:r>
            <a:r>
              <a:rPr sz="1500" b="1" i="0" dirty="0" err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nehraje</a:t>
            </a:r>
            <a:r>
              <a:rPr sz="1500" b="1" i="0" dirty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Deska se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připojí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do Apple Home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nebo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Home Assistant a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svítí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jako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lampa</a:t>
            </a:r>
            <a:r>
              <a:rPr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12801" y="1600000"/>
            <a:ext cx="5233797" cy="2800000"/>
          </a:xfrm>
          <a:prstGeom prst="rect">
            <a:avLst/>
          </a:prstGeom>
          <a:solidFill>
            <a:srgbClr val="E8EAED"/>
          </a:solidFill>
          <a:ln w="15240">
            <a:solidFill>
              <a:srgbClr val="B0B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[Fotka: aplikace a deska v režimu lampy]</a:t>
            </a:r>
          </a:p>
          <a:p>
            <a:pPr algn="ctr">
              <a:spcBef>
                <a:spcPts val="600"/>
              </a:spcBef>
            </a:pPr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Sem vlož screenshot aplikace a fotku desky, když svítí jako lampa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Co deska umí proti ostatním, a tři věci, které ukážu.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14 / 18   |   </a:t>
            </a:r>
            <a:r>
              <a:rPr lang="cs-CZ" sz="1050">
                <a:solidFill>
                  <a:srgbClr val="5A5A5A"/>
                </a:solidFill>
                <a:latin typeface="Calibri"/>
              </a:rPr>
              <a:t>CzechMate</a:t>
            </a:r>
            <a:r>
              <a:rPr sz="1050">
                <a:solidFill>
                  <a:srgbClr val="5A5A5A"/>
                </a:solidFill>
                <a:latin typeface="Calibri"/>
              </a:rPr>
              <a:t> — Alfréd Krutina (SPŠE Plzeň) — Elektrotechnická olympiáda EO2026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754116"/>
              </p:ext>
            </p:extLst>
          </p:nvPr>
        </p:nvGraphicFramePr>
        <p:xfrm>
          <a:off x="548640" y="1444752"/>
          <a:ext cx="11091672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Parametr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Běžné DIY desky (Reed / Hall 0/1)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Komerční desky (DGT / Chessnut Pro)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150" b="1">
                          <a:solidFill>
                            <a:srgbClr val="FFFFFF"/>
                          </a:solidFill>
                          <a:latin typeface="Calibri"/>
                        </a:rPr>
                        <a:t>CzechMate</a:t>
                      </a: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 (vlastní návrh)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3A5F"/>
                          </a:solidFill>
                          <a:latin typeface="Calibri"/>
                        </a:rPr>
                        <a:t>Rozpoznání typu a barvy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Ne — pozná pouze obsazeno / prázdno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Ano (plná identifikace typu a barvy)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7333"/>
                          </a:solidFill>
                          <a:latin typeface="Calibri"/>
                        </a:rPr>
                        <a:t>Ano, typ i barva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3A5F"/>
                          </a:solidFill>
                          <a:latin typeface="Calibri"/>
                        </a:rPr>
                        <a:t>Podsvícení polí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Většinou jen dioda v rohu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Turnajové desky často vůbec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7333"/>
                          </a:solidFill>
                          <a:latin typeface="Calibri"/>
                        </a:rPr>
                        <a:t>Světlo na každém poli</a:t>
                      </a:r>
                    </a:p>
                  </a:txBody>
                  <a:tcPr>
                    <a:solidFill>
                      <a:srgbClr val="D5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3A5F"/>
                          </a:solidFill>
                          <a:latin typeface="Calibri"/>
                        </a:rPr>
                        <a:t>Pravidla a chytrá domácnost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Pravidla řeší program mimo desku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Telefon, nebo zvlášť placený modul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37333"/>
                          </a:solidFill>
                          <a:latin typeface="Calibri"/>
                        </a:rPr>
                        <a:t>Pravidla v desce, umí i lampu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3A5F"/>
                          </a:solidFill>
                          <a:latin typeface="Calibri"/>
                        </a:rPr>
                        <a:t>Cena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~1 500 – 3 000 Kč (bez typu a barvy)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15 000 – 25 000 Kč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37333"/>
                          </a:solidFill>
                          <a:latin typeface="Calibri"/>
                        </a:rPr>
                        <a:t>Výroba</a:t>
                      </a:r>
                      <a:r>
                        <a:rPr sz="1100" b="0" dirty="0">
                          <a:solidFill>
                            <a:srgbClr val="137333"/>
                          </a:solidFill>
                          <a:latin typeface="Calibri"/>
                        </a:rPr>
                        <a:t> ~</a:t>
                      </a:r>
                      <a:r>
                        <a:rPr lang="cs-CZ" sz="1100" b="0" dirty="0">
                          <a:solidFill>
                            <a:srgbClr val="137333"/>
                          </a:solidFill>
                          <a:latin typeface="Calibri"/>
                        </a:rPr>
                        <a:t>2 303 Kč</a:t>
                      </a:r>
                      <a:r>
                        <a:rPr sz="1100" b="0" dirty="0">
                          <a:solidFill>
                            <a:srgbClr val="137333"/>
                          </a:solidFill>
                          <a:latin typeface="Calibri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137333"/>
                          </a:solidFill>
                          <a:latin typeface="Calibri"/>
                        </a:rPr>
                        <a:t>prodej</a:t>
                      </a:r>
                      <a:r>
                        <a:rPr sz="1100" b="0" dirty="0">
                          <a:solidFill>
                            <a:srgbClr val="137333"/>
                          </a:solidFill>
                          <a:latin typeface="Calibri"/>
                        </a:rPr>
                        <a:t> 199 €</a:t>
                      </a:r>
                    </a:p>
                  </a:txBody>
                  <a:tcPr>
                    <a:solidFill>
                      <a:srgbClr val="D5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3931920"/>
            <a:ext cx="35204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3931920"/>
            <a:ext cx="352044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4059935"/>
            <a:ext cx="3227832" cy="12273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15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Živá ukázka 1: Libovolná koncovka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Na prázdnou </a:t>
            </a:r>
            <a:r>
              <a:rPr lang="cs-CZ"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desku</a:t>
            </a: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postavím 3 vybrané figury (např. král a věž proti králi). Deska z Hallových senzorů okamžitě pozná typ i barvu každé z nich bez přehrávání partie od začátku.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3931920"/>
            <a:ext cx="35204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4256" y="3931920"/>
            <a:ext cx="3520440" cy="54864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4059935"/>
            <a:ext cx="3227832" cy="19933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1500" b="1" i="0">
                <a:solidFill>
                  <a:srgbClr val="C5221F"/>
                </a:solidFill>
                <a:latin typeface="Calibri"/>
                <a:ea typeface="Calibri"/>
                <a:cs typeface="Calibri"/>
              </a:rPr>
              <a:t>Živá ukázka 2: Tah, chyba a záměna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Zvednu figurku (rozsvítí se zelené cíle) a provedu legální tah. Poté zkusím neplatný tah nebo zaměním pěšce za věž — deska okamžitě rozsvítí červenou chybu a vyzve k nápravě.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3931920"/>
            <a:ext cx="35204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19872" y="3931920"/>
            <a:ext cx="3520440" cy="54864"/>
          </a:xfrm>
          <a:prstGeom prst="rect">
            <a:avLst/>
          </a:prstGeom>
          <a:solidFill>
            <a:srgbClr val="13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4059935"/>
            <a:ext cx="3227832" cy="19933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1500" b="1" i="0">
                <a:solidFill>
                  <a:srgbClr val="137333"/>
                </a:solidFill>
                <a:latin typeface="Calibri"/>
                <a:ea typeface="Calibri"/>
                <a:cs typeface="Calibri"/>
              </a:rPr>
              <a:t>Živá ukázka 3: Aplikace a Apple Home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Ukážu okamžitý přenos stavu do Flutter aplikace / webového rozhraní na ESP32-C6 a přepnutí šachovnice do režimu chytré ambientní lampy v Apple Home.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cs-CZ" sz="2600" b="1" i="0">
                <a:solidFill>
                  <a:srgbClr val="1E3A5F"/>
                </a:solidFill>
                <a:latin typeface="Calibri" panose="020F0502020204030204" pitchFamily="34" charset="0"/>
                <a:ea typeface="Calibri"/>
                <a:cs typeface="Calibri"/>
              </a:rPr>
              <a:t>Prototyp hraje. Teď řeším první sérii a Kickstarter.</a:t>
            </a:r>
            <a:endParaRPr sz="2600" b="1" i="0">
              <a:solidFill>
                <a:srgbClr val="1E3A5F"/>
              </a:solidFill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15 / 18   |   </a:t>
            </a:r>
            <a:r>
              <a:rPr lang="cs-CZ" sz="1050">
                <a:solidFill>
                  <a:srgbClr val="5A5A5A"/>
                </a:solidFill>
                <a:latin typeface="Calibri"/>
              </a:rPr>
              <a:t>CzechMate</a:t>
            </a:r>
            <a:r>
              <a:rPr sz="1050">
                <a:solidFill>
                  <a:srgbClr val="5A5A5A"/>
                </a:solidFill>
                <a:latin typeface="Calibri"/>
              </a:rPr>
              <a:t>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0000"/>
            <a:ext cx="11091672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lang="pl-PL" sz="1600" i="0">
                <a:solidFill>
                  <a:srgbClr val="1A1A1A"/>
                </a:solidFill>
                <a:latin typeface="Calibri" panose="020F0502020204030204" pitchFamily="34" charset="0"/>
                <a:ea typeface="Calibri"/>
                <a:cs typeface="Calibri"/>
              </a:rPr>
              <a:t>Prototyp už hraje. Ceny jsou na jeden kus při první sérii 100 kusů, prodej 199 €.</a:t>
            </a:r>
            <a:endParaRPr sz="1600" i="0" dirty="0">
              <a:solidFill>
                <a:srgbClr val="1A1A1A"/>
              </a:solidFill>
              <a:latin typeface="Calibri" panose="020F0502020204030204" pitchFamily="34" charset="0"/>
              <a:ea typeface="Calibri"/>
              <a:cs typeface="Calibri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4FA4DA8-E5A0-D5C5-A455-92DDF3641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002840"/>
              </p:ext>
            </p:extLst>
          </p:nvPr>
        </p:nvGraphicFramePr>
        <p:xfrm>
          <a:off x="548640" y="1981200"/>
          <a:ext cx="11087100" cy="29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4000">
                  <a:extLst>
                    <a:ext uri="{9D8B030D-6E8A-4147-A177-3AD203B41FA5}">
                      <a16:colId xmlns:a16="http://schemas.microsoft.com/office/drawing/2014/main" val="3769731231"/>
                    </a:ext>
                  </a:extLst>
                </a:gridCol>
                <a:gridCol w="3213100">
                  <a:extLst>
                    <a:ext uri="{9D8B030D-6E8A-4147-A177-3AD203B41FA5}">
                      <a16:colId xmlns:a16="http://schemas.microsoft.com/office/drawing/2014/main" val="4138063695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l"/>
                      <a:r>
                        <a:rPr lang="cs-CZ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Položka</a:t>
                      </a:r>
                    </a:p>
                  </a:txBody>
                  <a:tcPr marL="101600" marR="1016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Kč na kus</a:t>
                      </a:r>
                    </a:p>
                  </a:txBody>
                  <a:tcPr marL="101600" marR="101600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47148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lang="cs-CZ" sz="1500" b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</a:rPr>
                        <a:t>Hliníkové šasi</a:t>
                      </a:r>
                    </a:p>
                  </a:txBody>
                  <a:tcPr marL="101600" marR="1016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500" b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</a:rPr>
                        <a:t>750</a:t>
                      </a:r>
                    </a:p>
                  </a:txBody>
                  <a:tcPr marL="101600" marR="101600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89476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lang="cs-CZ" sz="1500" b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</a:rPr>
                        <a:t>Sklo navrch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500" b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</a:rPr>
                        <a:t>220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90793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lang="cs-CZ" sz="1500" b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</a:rPr>
                        <a:t>Osazená deska a součástky</a:t>
                      </a:r>
                    </a:p>
                  </a:txBody>
                  <a:tcPr marL="101600" marR="1016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500" b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</a:rPr>
                        <a:t>850</a:t>
                      </a:r>
                    </a:p>
                  </a:txBody>
                  <a:tcPr marL="101600" marR="101600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0427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lang="cs-CZ" sz="1500" b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</a:rPr>
                        <a:t>Magnety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500" b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</a:rPr>
                        <a:t>153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97559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lang="pl-PL" sz="1500" b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</a:rPr>
                        <a:t>Figurky, 3D tisk bez formy</a:t>
                      </a:r>
                      <a:endParaRPr lang="cs-CZ" sz="1500" b="0">
                        <a:solidFill>
                          <a:srgbClr val="1A1A1A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500" b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</a:rPr>
                        <a:t>230</a:t>
                      </a:r>
                    </a:p>
                  </a:txBody>
                  <a:tcPr marL="101600" marR="101600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6142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lang="cs-CZ" sz="1500" b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</a:rPr>
                        <a:t>Kabel, šroubky a krabice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500" b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34262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lang="cs-CZ" sz="1500" b="1">
                          <a:solidFill>
                            <a:srgbClr val="1A1A1A"/>
                          </a:solidFill>
                          <a:latin typeface="Calibri" panose="020F0502020204030204" pitchFamily="34" charset="0"/>
                        </a:rPr>
                        <a:t>Součet</a:t>
                      </a:r>
                    </a:p>
                  </a:txBody>
                  <a:tcPr marL="101600" marR="1016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500" b="1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</a:rPr>
                        <a:t>2 303</a:t>
                      </a:r>
                    </a:p>
                  </a:txBody>
                  <a:tcPr marL="101600" marR="101600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86447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E76D7AF-9490-8D5F-EBD1-8E0958C38F21}"/>
              </a:ext>
            </a:extLst>
          </p:cNvPr>
          <p:cNvSpPr txBox="1"/>
          <p:nvPr/>
        </p:nvSpPr>
        <p:spPr>
          <a:xfrm>
            <a:off x="548640" y="5080000"/>
            <a:ext cx="110871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cs-CZ" sz="1600">
                <a:solidFill>
                  <a:srgbClr val="1A1A1A"/>
                </a:solidFill>
                <a:latin typeface="Calibri" panose="020F0502020204030204" pitchFamily="34" charset="0"/>
              </a:rPr>
              <a:t>V první várce chci vyrobit 100 kusů, to je 230 300 Kč. Při 25 Kč za euro je 199 € 4 975 Kč. Aby se várka zaplatila, stačí prodat 47 kusů. S poplatkem Kickstarteru 9 % je to 51 kusů. Poštovné a DPH hradí kupující.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Shrnutí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16 / 18   |   </a:t>
            </a:r>
            <a:r>
              <a:rPr lang="cs-CZ" sz="1050">
                <a:solidFill>
                  <a:srgbClr val="5A5A5A"/>
                </a:solidFill>
                <a:latin typeface="Calibri"/>
              </a:rPr>
              <a:t>CzechMate</a:t>
            </a:r>
            <a:r>
              <a:rPr sz="1050">
                <a:solidFill>
                  <a:srgbClr val="5A5A5A"/>
                </a:solidFill>
                <a:latin typeface="Calibri"/>
              </a:rPr>
              <a:t>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0000"/>
            <a:ext cx="11091672" cy="46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Prototyp.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Je sestavený a hraje. Pozná typ a barvu figurky a pravidla počítá sám.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Desky.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Vlastní návrh, čtyři stejné čtvrtiny, Hallovy senzory a světlo na každém poli.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Proti spínačům.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Jazýček umí jen obsazeno nebo prázdno. Hallův senzor přidá typ a barvu.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Program.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Jeden firmware na ESP32-C6, rozdělený na úlohy. Aplikace desku ovládá, šachy nepočítá.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Další krok. </a:t>
            </a:r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Výroba z hliníku a skla, testování a Kickstarter. </a:t>
            </a:r>
            <a:r>
              <a:rPr lang="pl-PL"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 první sérii 100 kusů je výroba 2 303 Kč a prodej 199 €. Náklad na sérii pokryje prodej 47 kusů.</a:t>
            </a:r>
            <a:endParaRPr sz="1600" b="0" i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200000"/>
            <a:ext cx="11800000" cy="64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 i="0" u="none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Děkuji za pozornost.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Odkud jsou údaje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18 / 18   |   </a:t>
            </a:r>
            <a:r>
              <a:rPr lang="cs-CZ" sz="1050">
                <a:solidFill>
                  <a:srgbClr val="5A5A5A"/>
                </a:solidFill>
                <a:latin typeface="Calibri"/>
              </a:rPr>
              <a:t>CzechMate</a:t>
            </a:r>
            <a:r>
              <a:rPr sz="1050">
                <a:solidFill>
                  <a:srgbClr val="5A5A5A"/>
                </a:solidFill>
                <a:latin typeface="Calibri"/>
              </a:rPr>
              <a:t>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0000"/>
            <a:ext cx="11091672" cy="48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Vlastní práce. Deska, měření, firmware a prototyp jsou moje. Ceny šasi, skla a osazené desky jsou z rozvahy na 1 500 kusů.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Odhad. Cenu figurek a formy jsem odhadl. Poptávku na formu ještě nemám.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i="0" u="none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Katalogové listy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 i="0" u="non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Hallův senzor DRV5055, Texas Instruments. Klid 1,65 V, 60 mV/mT a ±22 mT při 3,3 V.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 u="sng">
                <a:solidFill>
                  <a:srgbClr val="0563C1"/>
                </a:solidFill>
                <a:latin typeface="Calibri"/>
                <a:ea typeface="Calibri"/>
                <a:cs typeface="Calibri"/>
                <a:hlinkClick r:id="rId2"/>
              </a:rPr>
              <a:t>https://www.ti.com/lit/ds/symlink/drv5055.pdf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 i="0" u="non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Přepínač CD74HC4067, Texas Instruments. Dva na každou čtvrtinu desky.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 u="sng">
                <a:solidFill>
                  <a:srgbClr val="0563C1"/>
                </a:solidFill>
                <a:latin typeface="Calibri"/>
                <a:ea typeface="Calibri"/>
                <a:cs typeface="Calibri"/>
                <a:hlinkClick r:id="rId3"/>
              </a:rPr>
              <a:t>https://www.ti.com/lit/ds/symlink/cd74hc4067.pdf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 i="0" u="non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Měnič diodové větve TPS54560, Texas Instruments.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 u="sng">
                <a:solidFill>
                  <a:srgbClr val="0563C1"/>
                </a:solidFill>
                <a:latin typeface="Calibri"/>
                <a:ea typeface="Calibri"/>
                <a:cs typeface="Calibri"/>
                <a:hlinkClick r:id="rId4"/>
              </a:rPr>
              <a:t>https://www.ti.com/lit/ds/symlink/tps54560.pdf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 i="0" u="non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USB-C na 15 V, obvod CH224A, WCH.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 u="sng">
                <a:solidFill>
                  <a:srgbClr val="0563C1"/>
                </a:solidFill>
                <a:latin typeface="Calibri"/>
                <a:ea typeface="Calibri"/>
                <a:cs typeface="Calibri"/>
                <a:hlinkClick r:id="rId5"/>
              </a:rPr>
              <a:t>https://www.wch-ic.com/downloads/CH224DS1_PDF.html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 i="0" u="non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Procesor čtvrtiny STM32C031F6, STMicroelectronics.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 u="sng">
                <a:solidFill>
                  <a:srgbClr val="0563C1"/>
                </a:solidFill>
                <a:latin typeface="Calibri"/>
                <a:ea typeface="Calibri"/>
                <a:cs typeface="Calibri"/>
                <a:hlinkClick r:id="rId6"/>
              </a:rPr>
              <a:t>https://www.st.com/resource/en/datasheet/stm32c031f6.pdf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 i="0" u="non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Společná adresa bootloaderu, poznámka AN2606, STMicroelectronics.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 u="sng">
                <a:solidFill>
                  <a:srgbClr val="0563C1"/>
                </a:solidFill>
                <a:latin typeface="Calibri"/>
                <a:ea typeface="Calibri"/>
                <a:cs typeface="Calibri"/>
                <a:hlinkClick r:id="rId7"/>
              </a:rPr>
              <a:t>https://www.st.com/resource/en/application_note/an2606-stm32-microcontroller-system-memory-boot-mode-stmicroelectronics.pdf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 i="0" u="non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Modul ESP32-C6-WROOM-1, Espressif.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 u="sng">
                <a:solidFill>
                  <a:srgbClr val="0563C1"/>
                </a:solidFill>
                <a:latin typeface="Calibri"/>
                <a:ea typeface="Calibri"/>
                <a:cs typeface="Calibri"/>
                <a:hlinkClick r:id="rId8"/>
              </a:rPr>
              <a:t>https://www.espressif.com/sites/default/files/documentation/esp32-c6-wroom-1_wroom-1u_datasheet_en.pdf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 i="0" u="non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Dva oddíly pro nový firmware, ESP-IDF. FreeRTOS a NimBLE jsou v téže dokumentaci.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 u="sng">
                <a:solidFill>
                  <a:srgbClr val="0563C1"/>
                </a:solidFill>
                <a:latin typeface="Calibri"/>
                <a:ea typeface="Calibri"/>
                <a:cs typeface="Calibri"/>
                <a:hlinkClick r:id="rId9"/>
              </a:rPr>
              <a:t>https://docs.espressif.com/projects/esp-idf/en/stable/esp32c6/api-reference/system/ota.html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 i="0" u="non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Dioda pod polem SK6812MINI RGBW, OPSCO.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 u="sng">
                <a:solidFill>
                  <a:srgbClr val="0563C1"/>
                </a:solidFill>
                <a:latin typeface="Calibri"/>
                <a:ea typeface="Calibri"/>
                <a:cs typeface="Calibri"/>
                <a:hlinkClick r:id="rId10"/>
              </a:rPr>
              <a:t>https://www.lcsc.com/datasheet/lcsc_datasheet_1810010421_OPSCO-Optoelectronics-SK6812MINI-RGBW_C140407.pdf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2636</Words>
  <Application>Microsoft Office PowerPoint</Application>
  <PresentationFormat>Widescreen</PresentationFormat>
  <Paragraphs>204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Krutina Alfréd</cp:lastModifiedBy>
  <cp:revision>18</cp:revision>
  <dcterms:created xsi:type="dcterms:W3CDTF">2013-01-27T09:14:16Z</dcterms:created>
  <dcterms:modified xsi:type="dcterms:W3CDTF">2026-10-28T13:47:04Z</dcterms:modified>
  <cp:category/>
</cp:coreProperties>
</file>