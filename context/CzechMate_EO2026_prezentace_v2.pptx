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0" r:id="rId21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slide" Target="slides/slide15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 / 18   |   CzechMate V2 — Alfréd Krutina (SPŠE Plzeň) — Elektrotechnická olympiáda EO2026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3A5F"/>
                </a:solidFill>
                <a:latin typeface="Calibri"/>
              </a:rPr>
              <a:t>CzechMate V2: elektronická šachovnice
s rozpoznáním typu a barvy figurek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8580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Autor: Alfréd Krutina</a:t>
            </a:r>
            <a:r>
              <a:rPr sz="15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Škola: Střední průmyslová škola elektrotechnická v Plzni</a:t>
            </a:r>
            <a:r>
              <a:rPr sz="15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Soutěž: Elektrotechnická olympiáda EO2026</a:t>
            </a:r>
            <a:r>
              <a:rPr sz="150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7781544" y="1465554"/>
            <a:ext cx="3913632" cy="392689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nput_fil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02130"/>
            <a:ext cx="3840480" cy="3853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Hotová deska V2 v každém okamžiku ví, jaká figurka na poli stojí.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2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217920" cy="448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>
                <a:solidFill>
                  <a:srgbClr val="1E3A5F"/>
                </a:solidFill>
                <a:latin typeface="Calibri"/>
              </a:rPr>
              <a:t>CzechMate V2 není jen podložka s diodami. Pod každým polem jsou dva Hallovy senzory a deska z magnetu pozná typ figurky i barvu.</a:t>
            </a:r>
            <a:r>
              <a:rPr sz="14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>
                <a:solidFill>
                  <a:srgbClr val="1E3A5F"/>
                </a:solidFill>
                <a:latin typeface="Calibri"/>
              </a:rPr>
              <a:t>Pravidla běží přímo v mikrokontroléru. Deska pozná legální tah, šach, mat, rošádu i braní mimochodem a ukáže to světlem na polích.</a:t>
            </a:r>
            <a:r>
              <a:rPr sz="14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>
                <a:solidFill>
                  <a:srgbClr val="1E3A5F"/>
                </a:solidFill>
                <a:latin typeface="Calibri"/>
              </a:rPr>
              <a:t>Má to být partie na fyzické desce. Tahy se nepřepisují do telefonu a při hře není potřeba koukat na displej.</a:t>
            </a:r>
            <a:r>
              <a:rPr sz="14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450" b="1">
                <a:solidFill>
                  <a:srgbClr val="1E3A5F"/>
                </a:solidFill>
                <a:latin typeface="Calibri"/>
              </a:rPr>
              <a:t>Na prázdnou desku se dá postavit i koncovka, třeba král a věž proti králi. Deska ví, které figurky tam stojí, a jde hrát hned.</a:t>
            </a:r>
            <a:r>
              <a:rPr sz="145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508760"/>
            <a:ext cx="4526280" cy="3337560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[Fotka: Hotová deska CzechMate V2 šikmo shora]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5A5A5A"/>
                </a:solidFill>
                <a:latin typeface="Calibri"/>
              </a:rPr>
              <a:t>Sem vlož reálnou fotku rozsvícené šachovnice V2 s figurkami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Samotná kontaktní matice na rozpoznání figurek nestačí.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3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První verze měla jen jazýčkové spínače. Ty poznají, jestli je pole obsazené, nebo prázdné. Pěšce od dámy ani bílou od černé nerozeznají.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V2 má pod polem lineární Hallův senzor na 3,3 V. Bez magnetu je na výstupu 1,65 V. Síla pole ho od této hodnoty odtáhne, do zhruba ±22 mT tempem 60 mV na militesla.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Barvu určí polarita. Jižní pól zvedne napětí nad 1,65 V, severní ho stáhne pod něj. Černé figurky mají k označené straně senzoru jižní pól, bílé severní.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</p:txBody>
      </p:sp>
      <p:pic>
        <p:nvPicPr>
          <p:cNvPr id="8" name="Picture 7" descr="hallgra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420000"/>
            <a:ext cx="5300000" cy="1850000"/>
          </a:xfrm>
          <a:prstGeom prst="rect">
            <a:avLst/>
          </a:prstGeom>
        </p:spPr>
      </p:pic>
      <p:pic>
        <p:nvPicPr>
          <p:cNvPr id="9" name="Picture 8" descr="hallgraf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3380000"/>
            <a:ext cx="5300000" cy="283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Dva Hallovy senzory na pole a kvadratický součet eliminují nepřesné položení.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4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91672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380" b="1">
                <a:solidFill>
                  <a:srgbClr val="1E3A5F"/>
                </a:solidFill>
                <a:latin typeface="Calibri"/>
              </a:rPr>
              <a:t>Pod každým polem jsou dva senzory, celkem 128. Figurka nikdy nesedí přesně uprostřed. Dvojice měří odchylku od klidové hodnoty prázdného pole, takže nevadí, když stojí kousek bokem.</a:t>
            </a:r>
            <a:r>
              <a:rPr sz="138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380" b="1">
                <a:solidFill>
                  <a:srgbClr val="1E3A5F"/>
                </a:solidFill>
                <a:latin typeface="Calibri"/>
              </a:rPr>
              <a:t>Z obou odchylek se spočítá jedna veličina, odmocnina ze součtu čtverců. Ta se při posunu figurky mění míň než údaj z jednoho senzoru. Po rozpoznání typu má okno 20 % hystereze, aby se typ nepřepínal, když se ruka chvěje.</a:t>
            </a:r>
            <a:r>
              <a:rPr sz="138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909297" y="2816352"/>
            <a:ext cx="8342924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mag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73" y="2852928"/>
            <a:ext cx="8269772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Čtyři stejné desky, jeden výrobní návrh.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5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6172200" cy="460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Šachovnice je ze čtyř stejných desek, každá na 16 polí. V KiCadu je to jeden návrh a ve výrobě čtyři stejné kusy. Menší deska se líp oživuje a vejde se do levnějšího rozměru.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Osazení není na všech stejné. Na první desce je hlavní procesor ESP32-C6 a napájení. Na dalších třech je jen měření: malý procesor, přepínače senzorů, Hallovy senzory a diody.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Řídicí modul se na ty tři desky nedává. Tři měřicí desky jsou stejné a jdou mezi sebou vyměnit.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7057652" y="1444752"/>
            <a:ext cx="4492734" cy="4507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nput_fil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228" y="1481328"/>
            <a:ext cx="441958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Každá čtvrtina si svých 32 senzorů přepíná sama.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6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83480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60" b="1">
                <a:solidFill>
                  <a:srgbClr val="1E3A5F"/>
                </a:solidFill>
                <a:latin typeface="Calibri"/>
              </a:rPr>
              <a:t>Sto dvacet osm analogových cest do jednoho procesoru by bylo dlouhých a chytly by rušení. Proto má každá čtvrtina desky vlastní malý procesor a měří svých 16 polí.</a:t>
            </a:r>
            <a:r>
              <a:rPr sz="136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60" b="1">
                <a:solidFill>
                  <a:srgbClr val="1E3A5F"/>
                </a:solidFill>
                <a:latin typeface="Calibri"/>
              </a:rPr>
              <a:t>U pole jsou dva senzory. Dva přepínače je připojují na dva analogové vstupy a přepínají se společně, takže se oba senzory jednoho pole přečtou naráz.</a:t>
            </a:r>
            <a:r>
              <a:rPr sz="136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60" b="1">
                <a:solidFill>
                  <a:srgbClr val="1E3A5F"/>
                </a:solidFill>
                <a:latin typeface="Calibri"/>
              </a:rPr>
              <a:t>Malý procesor z toho pozná, co na poli stojí, a po I2C posílá už jen typ a barvu. Ne surové vzorky.</a:t>
            </a:r>
            <a:r>
              <a:rPr sz="136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678424" y="2317050"/>
            <a:ext cx="5971032" cy="272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put_fi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53626"/>
            <a:ext cx="5897880" cy="26536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U každého pole je dvojice senzorů a kondenzátor na napájení.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7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983480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380" b="1">
                <a:solidFill>
                  <a:srgbClr val="1E3A5F"/>
                </a:solidFill>
                <a:latin typeface="Calibri"/>
              </a:rPr>
              <a:t>Na jedné čtvrtině desky je 16 polí, tedy 32 senzorů. Výstupy jdou do dvou přepínačů: jeden bere první senzor pole, druhý ten druhý.</a:t>
            </a:r>
            <a:r>
              <a:rPr sz="138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380" b="1">
                <a:solidFill>
                  <a:srgbClr val="1E3A5F"/>
                </a:solidFill>
                <a:latin typeface="Calibri"/>
              </a:rPr>
              <a:t>Měření stojí na čistém napětí 3,3 V. Proto je kondenzátor přímo u senzorů.</a:t>
            </a:r>
            <a:r>
              <a:rPr sz="138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000"/>
              </a:spcAft>
            </a:pPr>
            <a:r>
              <a:rPr sz="1380" b="1">
                <a:solidFill>
                  <a:srgbClr val="1E3A5F"/>
                </a:solidFill>
                <a:latin typeface="Calibri"/>
              </a:rPr>
              <a:t>Každý senzor má trochu jinou klidovou hodnotu. Deska si ji u prázdné šachovnice uloží a dál počítá jen odchylku.</a:t>
            </a:r>
            <a:r>
              <a:rPr sz="138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712317" y="1426464"/>
            <a:ext cx="5903244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893" y="1463040"/>
            <a:ext cx="583009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ESP32-C6 umí naprogramovat všechny čtyři STM32 po stejné I2C sběrnici.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8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74920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Čtyři procesory na čtvrtinách mají společná data, hodiny a vstup, kterým se přepnou do programování. Reset má každý vlastní a vede ho ESP32-C6.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Bootloader mají z výroby na stejné adrese. Kdyby se hlásily všechny naráz, na sběrnici se srazí.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Při nahrávání proto ESP32 tři čipy drží v resetu a pustí jen jeden. Pak další. Kabel se nepřepojuje.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Tlačítka mají na desce odpor a kondenzátor, ať nezákmitají.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724144" y="1805984"/>
            <a:ext cx="5925312" cy="384039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put_fi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42560"/>
            <a:ext cx="5852160" cy="3767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Napájení odděluje proud diod od měření na 3,3 V.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9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49240" cy="297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Z USB-C si deska domluví 15 V. Z toho pak diody mohou svítit naplno.</a:t>
            </a:r>
            <a:r>
              <a:rPr sz="13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Dvě oddělené větve na 5 V: jedna jen pro diody, druhá pro zbytek desky. Když se rozsvítí víc polí naráz, nestrhne to napětí procesorům.</a:t>
            </a:r>
            <a:r>
              <a:rPr sz="13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Z té druhé větve je ještě 3,3 V pro procesory, přepínače a Hallovy senzory. Na klidu tohoto napětí stojí celé měření.</a:t>
            </a:r>
            <a:r>
              <a:rPr sz="130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1">
                <a:solidFill>
                  <a:srgbClr val="1E3A5F"/>
                </a:solidFill>
                <a:latin typeface="Calibri"/>
              </a:rPr>
              <a:t>Deska naběhne i z obyčejných 5 V, třeba z portu počítače. Počítá se ale s 15 V, jinak diody nemají plný jas.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07408"/>
          <a:ext cx="53492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188720"/>
                <a:gridCol w="1234440"/>
                <a:gridCol w="1234440"/>
              </a:tblGrid>
              <a:tr h="35661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Napájecí větev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 čemu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při 5 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při 15 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3,3 V, senzory a procesory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měnič na 3,3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~1,0 A (3,3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~1,0 A (3,3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5 V, jen diody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samostatný měnič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~0,3 A (1,5 W)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až 3,2 A (16 W)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Celá deska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součet větví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~4,8 W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~19,5 W</a:t>
                      </a:r>
                    </a:p>
                  </a:txBody>
                  <a:tcPr>
                    <a:solidFill>
                      <a:srgbClr val="EBF0F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5F"/>
                          </a:solidFill>
                          <a:latin typeface="Calibri"/>
                        </a:rPr>
                        <a:t>Vstup USB-C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5 V nebo 15 V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~0,95 A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~1,35 A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5366" y="1380744"/>
            <a:ext cx="3982907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put_fil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942" y="1417320"/>
            <a:ext cx="3909755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23883" y="4425696"/>
            <a:ext cx="3045872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nput_fil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459" y="4462272"/>
            <a:ext cx="29727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Pod každým polem je dioda. Tah je vidět přímo na desce.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10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66360" cy="3017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Pod každým polem je adresovatelná dioda, která umí barvu i samostatnou bílou. U sebe má kondenzátor na větvi, která živí jen diody.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Signál z ESP32-C6 je 3,3 V, diody chtějí 5 V. Mezi nimi je převodník úrovně.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Zelená jsou pole, kam se zvednutá figurka smí položit. Červená je chyba, šach nebo jiná figurka, než která se zvedla. Displej k tomu není potřeba.</a:t>
            </a:r>
            <a:r>
              <a:rPr sz="135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5166360" cy="1600200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[Fotka: Podsvícení polí při legálním tahu (zelená) a při chybě (červená)]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5A5A5A"/>
                </a:solidFill>
                <a:latin typeface="Calibri"/>
              </a:rPr>
              <a:t>Sem vlož fotku rozsvícené desky při zvednutí figurky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1304" y="1940313"/>
            <a:ext cx="5788152" cy="35717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put_fi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76889"/>
            <a:ext cx="5715000" cy="3498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Na desce je jeden program. FreeRTOS ho rozdělí na úlohy.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11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8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Firmware na ESP32-C6 je jeden program. FreeRTOS z něj udělá úlohy, které běží vedle sebe. Každá dělá jednu věc a čeká na zprávu.</a:t>
            </a:r>
            <a:r>
              <a:rPr sz="14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squares_task čte šachovnici. U první verze spínače, u V2 Hallovy senzory po I2C.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button_task hlídá tlačítka: stisk, dlouhý stisk a dvojstisk.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game_task drží pravidla a stav partie. Zvednutí figurky, tah z USB i tah z aplikace jdou do jedné fronty.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led_task kreslí diody. uart_task je sériová linka po USB. web_server_task drží Wi-Fi.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Do Home Assistant se posílá stav, až když je deska na Wi-Fi. Bluetooth se spouští zvlášť.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U spínačů deska vidí jen obsazené nebo prázdné pole. Která figurka to je, drží hra od základní pozice.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Aplikace desku ovládá, šachy nepočítá. Bluetooth vozí stav a krátké příkazy, Wi-Fi větší data a nový firmware.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Nový firmware se zapisuje do druhého oddílu. Deska ho ověří a po restartu z něj naběhne. Když nenaběhne, vrátí se starý.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Tři reálné inženýrské problémy rozhodly o výsledném zapojení desky.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12 / 18   |   CzechMate V2 — Alfréd Krutina (SPŠE Plzeň) — Elektrotechnická olympiáda EO2026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204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636776"/>
            <a:ext cx="3227832" cy="4325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1. Šum a chvění při pokládání figurky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1E3A5F"/>
                </a:solidFill>
                <a:latin typeface="Calibri"/>
              </a:rPr>
              <a:t>PROBLÉM:</a:t>
            </a:r>
          </a:p>
          <a:p>
            <a:r>
              <a:rPr sz="1350" b="1">
                <a:solidFill>
                  <a:srgbClr val="1E3A5F"/>
                </a:solidFill>
                <a:latin typeface="Calibri"/>
              </a:rPr>
              <a:t>Pevné prahy z laboratoře na skutečné desce selhávaly. Ruka se při pokládání chvěje a hodnota na hraně prahu přepínala typ, třeba střelce a věž.</a:t>
            </a:r>
          </a:p>
          <a:p>
            <a:r>
              <a:rPr sz="1350" b="1">
                <a:solidFill>
                  <a:srgbClr val="1E3A5F"/>
                </a:solidFill>
                <a:latin typeface="Calibri"/>
              </a:rPr>
              <a:t>ŘEŠENÍ:</a:t>
            </a:r>
          </a:p>
          <a:p>
            <a:r>
              <a:rPr sz="1350" b="1">
                <a:solidFill>
                  <a:srgbClr val="1E3A5F"/>
                </a:solidFill>
                <a:latin typeface="Calibri"/>
              </a:rPr>
              <a:t>• Dva senzory na poli a jedna veličina z obou.</a:t>
            </a:r>
          </a:p>
          <a:p>
            <a:r>
              <a:rPr sz="1350" b="1">
                <a:solidFill>
                  <a:srgbClr val="1E3A5F"/>
                </a:solidFill>
                <a:latin typeface="Calibri"/>
              </a:rPr>
              <a:t>• Klidová hodnota zvlášť pro každé pole.</a:t>
            </a:r>
          </a:p>
          <a:p>
            <a:r>
              <a:rPr sz="1350" b="1">
                <a:solidFill>
                  <a:srgbClr val="1E3A5F"/>
                </a:solidFill>
                <a:latin typeface="Calibri"/>
              </a:rPr>
              <a:t>• Po určení typu 20 % hystereze a krátké čekání, než se údaj vezme vážně. U senzorů je kondenzátor.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50876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54864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36776"/>
            <a:ext cx="3227832" cy="4325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37333"/>
                </a:solidFill>
                <a:latin typeface="Calibri"/>
              </a:rPr>
              <a:t>2. Rušení měření proudem diod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137333"/>
                </a:solidFill>
                <a:latin typeface="Calibri"/>
              </a:rPr>
              <a:t>PROBLÉM:</a:t>
            </a:r>
          </a:p>
          <a:p>
            <a:r>
              <a:rPr sz="1350" b="1">
                <a:solidFill>
                  <a:srgbClr val="137333"/>
                </a:solidFill>
                <a:latin typeface="Calibri"/>
              </a:rPr>
              <a:t>Když se rozsvítí hodně diod naráz, odběr jde do několika ampér a napětí se zavlní. Hallův senzor z toho napětí odvozuje výstup, takže se rozhází i údaj o figurce.</a:t>
            </a:r>
          </a:p>
          <a:p>
            <a:r>
              <a:rPr sz="1350" b="1">
                <a:solidFill>
                  <a:srgbClr val="137333"/>
                </a:solidFill>
                <a:latin typeface="Calibri"/>
              </a:rPr>
              <a:t>ŘEŠENÍ:</a:t>
            </a:r>
          </a:p>
          <a:p>
            <a:r>
              <a:rPr sz="1350" b="1">
                <a:solidFill>
                  <a:srgbClr val="137333"/>
                </a:solidFill>
                <a:latin typeface="Calibri"/>
              </a:rPr>
              <a:t>• Samostatný měnič jen pro diody a druhý pro zbytek desky.</a:t>
            </a:r>
          </a:p>
          <a:p>
            <a:r>
              <a:rPr sz="1350" b="1">
                <a:solidFill>
                  <a:srgbClr val="137333"/>
                </a:solidFill>
                <a:latin typeface="Calibri"/>
              </a:rPr>
              <a:t>• Další měnič drží 3,3 V pro měření. U diod jsou blokovací kondenzátory.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508760"/>
            <a:ext cx="3520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508760"/>
            <a:ext cx="3520440" cy="54864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636776"/>
            <a:ext cx="3227832" cy="4325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B06000"/>
                </a:solidFill>
                <a:latin typeface="Calibri"/>
              </a:rPr>
              <a:t>3. Čtyři procesory na jedné sběrnici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B06000"/>
                </a:solidFill>
                <a:latin typeface="Calibri"/>
              </a:rPr>
              <a:t>PROBLÉM:</a:t>
            </a:r>
          </a:p>
          <a:p>
            <a:r>
              <a:rPr sz="1350" b="1">
                <a:solidFill>
                  <a:srgbClr val="B06000"/>
                </a:solidFill>
                <a:latin typeface="Calibri"/>
              </a:rPr>
              <a:t>Čtyři stejné procesory na čtvrtinách mají z výroby stejnou adresu bootloaderu. Když se při nahrávání hlásily všechny, na sběrnici se to srazilo.</a:t>
            </a:r>
          </a:p>
          <a:p>
            <a:r>
              <a:rPr sz="1350" b="1">
                <a:solidFill>
                  <a:srgbClr val="B06000"/>
                </a:solidFill>
                <a:latin typeface="Calibri"/>
              </a:rPr>
              <a:t>ŘEŠENÍ:</a:t>
            </a:r>
          </a:p>
          <a:p>
            <a:r>
              <a:rPr sz="1350" b="1">
                <a:solidFill>
                  <a:srgbClr val="B06000"/>
                </a:solidFill>
                <a:latin typeface="Calibri"/>
              </a:rPr>
              <a:t>• Data a hodiny jsou společné, reset má každý vlastní.</a:t>
            </a:r>
          </a:p>
          <a:p>
            <a:r>
              <a:rPr sz="1350" b="1">
                <a:solidFill>
                  <a:srgbClr val="B06000"/>
                </a:solidFill>
                <a:latin typeface="Calibri"/>
              </a:rPr>
              <a:t>• ESP32 při programování pustí z resetu vždy jen jeden. Celá deska se aktualizuje bez přepojování kabelu.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Aplikace desku ovládá. Pravidla zůstávají na desce.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13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60" b="1">
                <a:solidFill>
                  <a:srgbClr val="1E3A5F"/>
                </a:solidFill>
                <a:latin typeface="Calibri"/>
              </a:rPr>
              <a:t>Rozpoznání figurek i pravidla běží na desce. Síť na ESP32-C6 k tomu přidává ovládání zvenku.</a:t>
            </a:r>
            <a:r>
              <a:rPr sz="136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60" b="1">
                <a:solidFill>
                  <a:srgbClr val="1E3A5F"/>
                </a:solidFill>
                <a:latin typeface="Calibri"/>
              </a:rPr>
              <a:t>Aplikace a web ukážou stav partie a historii tahů. Dá se jimi nastavit, jak moc deska napovídá světlem: začátečník vidí legální tahy, pokročilejší jen chybu.</a:t>
            </a:r>
            <a:r>
              <a:rPr sz="136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60" b="1">
                <a:solidFill>
                  <a:srgbClr val="1E3A5F"/>
                </a:solidFill>
                <a:latin typeface="Calibri"/>
              </a:rPr>
              <a:t>Když se zrovna nehraje, deska se připojí přes Wi-Fi do Apple Home nebo Home Assistant. Diod pod polí je 64, takže umí svítit i jako lampa.</a:t>
            </a:r>
            <a:r>
              <a:rPr sz="136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412801" y="1426464"/>
            <a:ext cx="5233797" cy="295351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put_fi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377" y="1463040"/>
            <a:ext cx="5160645" cy="2880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46520" y="4617720"/>
            <a:ext cx="5166360" cy="1508760"/>
          </a:xfrm>
          <a:prstGeom prst="rect">
            <a:avLst/>
          </a:prstGeom>
          <a:solidFill>
            <a:srgbClr val="E8EAED"/>
          </a:solidFill>
          <a:ln w="1524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[Fotka: aplikace a deska v režimu lampy]</a:t>
            </a:r>
          </a:p>
          <a:p>
            <a:pPr algn="ctr">
              <a:spcBef>
                <a:spcPts val="600"/>
              </a:spcBef>
            </a:pPr>
            <a:r>
              <a:rPr sz="1300" b="1">
                <a:solidFill>
                  <a:srgbClr val="1E3A5F"/>
                </a:solidFill>
                <a:latin typeface="Calibri"/>
              </a:rPr>
              <a:t>Sem vlož screenshot aplikace a fotku desky, když svítí jako lampa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Co deska umí proti ostatním, a tři věci, které ukážu.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14 / 18   |   CzechMate V2 — Alfréd Krutina (SPŠE Plzeň) — Elektrotechnická olympiáda EO2026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4752"/>
          <a:ext cx="1109167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752"/>
                <a:gridCol w="2651760"/>
                <a:gridCol w="2926080"/>
                <a:gridCol w="2926080"/>
              </a:tblGrid>
              <a:tr h="44805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Parametr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Běžné DIY desky (Reed / Hall 0/1)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Komerční desky (DGT / Chessnut Pro)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CzechMate V2 (vlastní návrh)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Rozpoznání typu a barvy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 — pozná pouze obsazeno / prázdno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Ano (plná identifikace typu a barvy)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37333"/>
                          </a:solidFill>
                          <a:latin typeface="Calibri"/>
                        </a:rPr>
                        <a:t>Ano, typ i barva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Podsvícení polí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Většinou jen dioda v rohu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Turnajové desky často vůbec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37333"/>
                          </a:solidFill>
                          <a:latin typeface="Calibri"/>
                        </a:rPr>
                        <a:t>Světlo na každém poli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Pravidla a chytrá domácnost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Pravidla řeší program mimo desku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Telefon, nebo zvlášť placený modul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37333"/>
                          </a:solidFill>
                          <a:latin typeface="Calibri"/>
                        </a:rPr>
                        <a:t>Pravidla v desce, umí i lampu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Cena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~1 500 – 3 000 Kč (bez typu a barvy)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15 000 – 25 000 Kč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37333"/>
                          </a:solidFill>
                          <a:latin typeface="Calibri"/>
                        </a:rPr>
                        <a:t>Výroba ~1 600 Kč, prodej 199 €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35204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059935"/>
            <a:ext cx="3227832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Živá ukázka 1: Libovolná koncovka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Na prázdnou desku V2 postavím 3 vybrané figury (např. král a věž proti králi). Deska z Hallových senzorů okamžitě pozná typ i barvu každé z nich bez přehrávání partie od začátku.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3931920"/>
            <a:ext cx="3520440" cy="54864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59935"/>
            <a:ext cx="3227832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C5221F"/>
                </a:solidFill>
                <a:latin typeface="Calibri"/>
              </a:rPr>
              <a:t>Živá ukázka 2: Tah, chyba a záměna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Zvednu figurku (rozsvítí se zelené cíle) a provedu legální tah. Poté zkusím neplatný tah nebo zaměním pěšce za věž — deska okamžitě rozsvítí červenou chybu a vyzve k nápravě.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3931920"/>
            <a:ext cx="3520440" cy="54864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4059935"/>
            <a:ext cx="3227832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37333"/>
                </a:solidFill>
                <a:latin typeface="Calibri"/>
              </a:rPr>
              <a:t>Živá ukázka 3: Aplikace a Apple Home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Ukážu okamžitý přenos stavu do Flutter aplikace / webového rozhraní na ESP32-C6 a přepnutí šachovnice do režimu chytré ambientní lampy v Apple Home.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Prototyp hraje. Teď řeším výrobu a Kickstarter.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15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8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Funkční prototyp V2 už je. Teď řeším výrobu z lepších materiálů, hlavně hliníkové šasi a sklo navrch, a k tomu testování. Chci to dát na Kickstarter a prodávat za 199 €.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Ceny při sérii 1 500 kusů, za jeden kus: hliníkové šasi 500 Kč, sklo 150 Kč, osazená deska a součástky 700 Kč.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Figurky chci nejdřív tisknout. Materiál a magnety odhaduji na 300 Kč za sadu, čas tisku v tom není. Na 1 500 sad už tisk nechci. Forma na šest tvarů vyjde řádově na 250 000 Kč, tedy asi 170 Kč na sadu, a k tomu plast a magnety. Do součtu dávám 250 Kč.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Dohromady 500 + 150 + 700 + 250 = 1 600 Kč za kus. Kurz beru kulatě 25 Kč za euro, takže 199 € je 4 975 Kč. Výroba jednoho kusu je pod prodejní cenou.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Když nechám vyrobit všech 1 500 kusů, výroba stojí 1 500 × 1 600 = 2 400 000 Kč. Aby se tahle částka vrátila z prodeje, musím prodat 2 400 000 / 4 975, tedy 483 kusů. Poštovné, poplatek kampaně ani DPH v tom nejsou.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Shrnutí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16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0000"/>
            <a:ext cx="11091672" cy="4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20" b="1">
                <a:solidFill>
                  <a:srgbClr val="1E3A5F"/>
                </a:solidFill>
                <a:latin typeface="Calibri"/>
              </a:rPr>
              <a:t>Prototyp V2 je sestavený a hraje. Pozná typ a barvu figurky a pravidla počítá sám.</a:t>
            </a:r>
            <a:r>
              <a:rPr sz="142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20" b="1">
                <a:solidFill>
                  <a:srgbClr val="1E3A5F"/>
                </a:solidFill>
                <a:latin typeface="Calibri"/>
              </a:rPr>
              <a:t>Desky jsou vlastní návrh: čtyři stejné čtvrtiny, Hallovy senzory pod poli a světlo na každém poli.</a:t>
            </a:r>
            <a:r>
              <a:rPr sz="142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20" b="1">
                <a:solidFill>
                  <a:srgbClr val="1E3A5F"/>
                </a:solidFill>
                <a:latin typeface="Calibri"/>
              </a:rPr>
              <a:t>Jazýčkový spínač umí jen obsazeno nebo prázdno. Hallův senzor k tomu přidá typ a barvu.</a:t>
            </a:r>
            <a:r>
              <a:rPr sz="142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420" b="1">
                <a:solidFill>
                  <a:srgbClr val="1E3A5F"/>
                </a:solidFill>
                <a:latin typeface="Calibri"/>
              </a:rPr>
              <a:t>Firmware je jeden program na ESP32-C6, rozdělený na úlohy. Aplikace desku ovládá, šachy nepočítá.</a:t>
            </a:r>
          </a:p>
          <a:p>
            <a:pPr>
              <a:spcAft>
                <a:spcPts val="1200"/>
              </a:spcAft>
            </a:pPr>
            <a:r>
              <a:rPr sz="1420" b="1">
                <a:solidFill>
                  <a:srgbClr val="1E3A5F"/>
                </a:solidFill>
                <a:latin typeface="Calibri"/>
              </a:rPr>
              <a:t>Teď řeším výrobu z hliníku a skla, testování a Kickstarter. Při 1 500 kusech vychází výroba na 1 600 Kč a prodej na 199 €. Náklad na celou sérii pokryje prodej 483 kusů.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Děkuji za pozornost.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17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8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Alfréd Krutina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Střední průmyslová škola elektrotechnická v Plzni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Elektrotechnická olympiáda EO2026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E3A5F"/>
                </a:solidFill>
                <a:latin typeface="Calibri"/>
              </a:rPr>
              <a:t>Dotazy k desce i k firmwaru rád zodpovím.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Odkud jsou údaje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11091672" cy="13716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>
                <a:solidFill>
                  <a:srgbClr val="5A5A5A"/>
                </a:solidFill>
                <a:latin typeface="Calibri"/>
              </a:rPr>
              <a:t>18 / 18   |   CzechMate V2 — Alfréd Krutina (SPŠE Plzeň) — Elektrotechnická olympiáda EO2026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0000"/>
            <a:ext cx="11091672" cy="48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E3A5F"/>
                </a:solidFill>
                <a:latin typeface="Calibri"/>
              </a:rPr>
              <a:t>Deska, firmware a prototyp jsou moje. Ceny šasi, skla a osazené desky jsou z mé rozvahy na sérii 1 500 kusů.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E3A5F"/>
                </a:solidFill>
                <a:latin typeface="Calibri"/>
              </a:rPr>
              <a:t>Klidové napětí 1,65 V, citlivost 60 mV/mT a lineární rozsah zhruba ±22 mT při 3,3 V jsou z katalogu Texas Instruments k senzoru DRV5055.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E3A5F"/>
                </a:solidFill>
                <a:latin typeface="Calibri"/>
              </a:rPr>
              <a:t>Cenu figurek a formy jsem odhadl. Poptávku na formu ještě nemám, v součtu je proto označená jako odhad.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