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654" y="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9441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dirty="0">
                <a:solidFill>
                  <a:srgbClr val="1E3A5F"/>
                </a:solidFill>
                <a:latin typeface="Calibri"/>
              </a:rPr>
              <a:t>CzechMate: </a:t>
            </a:r>
            <a:r>
              <a:rPr sz="3200" b="1" dirty="0" err="1">
                <a:solidFill>
                  <a:srgbClr val="1E3A5F"/>
                </a:solidFill>
                <a:latin typeface="Calibri"/>
              </a:rPr>
              <a:t>elektronická</a:t>
            </a:r>
            <a:r>
              <a:rPr sz="3200" b="1" dirty="0">
                <a:solidFill>
                  <a:srgbClr val="1E3A5F"/>
                </a:solidFill>
                <a:latin typeface="Calibri"/>
              </a:rPr>
              <a:t> </a:t>
            </a:r>
            <a:r>
              <a:rPr sz="3200" b="1" dirty="0" err="1">
                <a:solidFill>
                  <a:srgbClr val="1E3A5F"/>
                </a:solidFill>
                <a:latin typeface="Calibri"/>
              </a:rPr>
              <a:t>šachovnice</a:t>
            </a:r>
            <a:r>
              <a:rPr sz="3200" b="1" dirty="0">
                <a:solidFill>
                  <a:srgbClr val="1E3A5F"/>
                </a:solidFill>
                <a:latin typeface="Calibri"/>
              </a:rPr>
              <a:t> s </a:t>
            </a:r>
            <a:r>
              <a:rPr sz="3200" b="1" dirty="0" err="1">
                <a:solidFill>
                  <a:srgbClr val="1E3A5F"/>
                </a:solidFill>
                <a:latin typeface="Calibri"/>
              </a:rPr>
              <a:t>rozpoznáním</a:t>
            </a:r>
            <a:r>
              <a:rPr sz="3200" b="1" dirty="0">
                <a:solidFill>
                  <a:srgbClr val="1E3A5F"/>
                </a:solidFill>
                <a:latin typeface="Calibri"/>
              </a:rPr>
              <a:t> </a:t>
            </a:r>
            <a:r>
              <a:rPr sz="3200" b="1" dirty="0" err="1">
                <a:solidFill>
                  <a:srgbClr val="1E3A5F"/>
                </a:solidFill>
                <a:latin typeface="Calibri"/>
              </a:rPr>
              <a:t>figurek</a:t>
            </a:r>
            <a:endParaRPr sz="3200" b="1" dirty="0">
              <a:solidFill>
                <a:srgbClr val="1E3A5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3108960"/>
            <a:ext cx="11094415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 dirty="0">
                <a:solidFill>
                  <a:srgbClr val="1A1A1A"/>
                </a:solidFill>
                <a:latin typeface="Calibri"/>
              </a:rPr>
              <a:t>Alfred Krutina</a:t>
            </a:r>
          </a:p>
          <a:p>
            <a:pPr>
              <a:spcAft>
                <a:spcPts val="400"/>
              </a:spcAft>
            </a:pPr>
            <a:r>
              <a:rPr sz="1400" b="0" dirty="0" err="1">
                <a:solidFill>
                  <a:srgbClr val="5A5A5A"/>
                </a:solidFill>
                <a:latin typeface="Calibri"/>
              </a:rPr>
              <a:t>Střední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5A5A5A"/>
                </a:solidFill>
                <a:latin typeface="Calibri"/>
              </a:rPr>
              <a:t>průmyslová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5A5A5A"/>
                </a:solidFill>
                <a:latin typeface="Calibri"/>
              </a:rPr>
              <a:t>škola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5A5A5A"/>
                </a:solidFill>
                <a:latin typeface="Calibri"/>
              </a:rPr>
              <a:t>elektrotechnická</a:t>
            </a:r>
            <a:r>
              <a:rPr sz="1400" b="0" dirty="0">
                <a:solidFill>
                  <a:srgbClr val="5A5A5A"/>
                </a:solidFill>
                <a:latin typeface="Calibri"/>
              </a:rPr>
              <a:t> v </a:t>
            </a:r>
            <a:r>
              <a:rPr sz="1400" b="0" dirty="0" err="1">
                <a:solidFill>
                  <a:srgbClr val="5A5A5A"/>
                </a:solidFill>
                <a:latin typeface="Calibri"/>
              </a:rPr>
              <a:t>Plzni</a:t>
            </a:r>
            <a:endParaRPr sz="1400" b="0" dirty="0">
              <a:solidFill>
                <a:srgbClr val="5A5A5A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400" b="1" dirty="0" err="1">
                <a:solidFill>
                  <a:srgbClr val="1E3A5F"/>
                </a:solidFill>
                <a:latin typeface="Calibri"/>
              </a:rPr>
              <a:t>Elektrotechnická</a:t>
            </a:r>
            <a:r>
              <a:rPr sz="1400" b="1" dirty="0">
                <a:solidFill>
                  <a:srgbClr val="1E3A5F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1E3A5F"/>
                </a:solidFill>
                <a:latin typeface="Calibri"/>
              </a:rPr>
              <a:t>olympiáda</a:t>
            </a:r>
            <a:r>
              <a:rPr sz="1400" b="1" dirty="0">
                <a:solidFill>
                  <a:srgbClr val="1E3A5F"/>
                </a:solidFill>
                <a:latin typeface="Calibri"/>
              </a:rPr>
              <a:t> EO2026</a:t>
            </a:r>
          </a:p>
          <a:p>
            <a:pPr>
              <a:spcAft>
                <a:spcPts val="400"/>
              </a:spcAft>
            </a:pPr>
            <a:endParaRPr sz="1400" b="1" dirty="0">
              <a:solidFill>
                <a:srgbClr val="1E3A5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A5A5A"/>
                </a:solidFill>
                <a:latin typeface="Calibri"/>
              </a:rPr>
              <a:t>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9441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3A5F"/>
                </a:solidFill>
                <a:latin typeface="Calibri"/>
              </a:rPr>
              <a:t>Hotová deska V2 ví, co na každém poli stojí.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11094415" cy="12700"/>
          </a:xfrm>
          <a:prstGeom prst="rect">
            <a:avLst/>
          </a:prstGeom>
          <a:solidFill>
            <a:srgbClr val="C8C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6217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CzechMate ve verzi V2 není jen podložka s diodami. Pod deskou měří Hallovy senzory magnetické pole figurek a firmware z toho určí typ i barvu. Na základě této informace kontroluje legálnost tahu a odpověď ukáže světlem na polích.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Cílem je fyzická partie, u které deska sama drží pravidla — bez přepisování tahů do telefonu.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0" y="1691640"/>
            <a:ext cx="4114800" cy="3840480"/>
          </a:xfrm>
          <a:prstGeom prst="rect">
            <a:avLst/>
          </a:prstGeom>
          <a:solidFill>
            <a:srgbClr val="E8EAED"/>
          </a:solidFill>
          <a:ln w="12700">
            <a:solidFill>
              <a:srgbClr val="B0B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0" y="560527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5A5A"/>
                </a:solidFill>
                <a:latin typeface="Calibri"/>
              </a:rPr>
              <a:t>[fotka: hotová deska V2 shora / šikmo]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A5A5A"/>
                </a:solidFill>
                <a:latin typeface="Calibri"/>
              </a:rP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9441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3A5F"/>
                </a:solidFill>
                <a:latin typeface="Calibri"/>
              </a:rPr>
              <a:t>Samotná kontaktní matice na rozpoznání figurek nestačí.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11094415" cy="12700"/>
          </a:xfrm>
          <a:prstGeom prst="rect">
            <a:avLst/>
          </a:prstGeom>
          <a:solidFill>
            <a:srgbClr val="C8C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9441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Reed spínač nebo kontaktní matice umí jen stav obsazeno / prázdné. Z toho nepoznáte, zda na poli stojí pěšec, nebo věž, ani jestli je figurka bílá, nebo černá. Partii proto nelze volně sestavit do libovolné pozice — deska by nevěděla, co hráč položil.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Hallův senzor měří magnetické pole (sílu a polaritu). Když má každá figurka vlastní magnetickou stopu, deska získá typ i barvu, ne jen obsazenost.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A5A5A"/>
                </a:solidFill>
                <a:latin typeface="Calibri"/>
              </a:rP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9441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3A5F"/>
                </a:solidFill>
                <a:latin typeface="Calibri"/>
              </a:rPr>
              <a:t>Každé pole má dva Hallovy senzory, aby šlo spolehlivě určit typ i barvu.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11094415" cy="12700"/>
          </a:xfrm>
          <a:prstGeom prst="rect">
            <a:avLst/>
          </a:prstGeom>
          <a:solidFill>
            <a:srgbClr val="C8C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6217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Dvojice senzorů dává diferenční měření vůči kalibrované nule. Z více vzorků se spočítá energie pole; prahová okna a hystereze (20 % u zamčeného typu) pocházejí z kalibrace na hotové desce. Debounce zabrání tomu, aby chvění při pokládání přepínalo typ.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Výsledek pro každé pole je stabilní typ a barva figurky — ne surový výpis z osciloskopu.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0" y="1691640"/>
            <a:ext cx="4114800" cy="3840480"/>
          </a:xfrm>
          <a:prstGeom prst="rect">
            <a:avLst/>
          </a:prstGeom>
          <a:solidFill>
            <a:srgbClr val="E8EAED"/>
          </a:solidFill>
          <a:ln w="12700">
            <a:solidFill>
              <a:srgbClr val="B0B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0" y="560527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5A5A"/>
                </a:solidFill>
                <a:latin typeface="Calibri"/>
              </a:rPr>
              <a:t>[schéma: jedno pole — 2× Hall, diff, klasifikace]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A5A5A"/>
                </a:solidFill>
                <a:latin typeface="Calibri"/>
              </a:rP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9441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3A5F"/>
                </a:solidFill>
                <a:latin typeface="Calibri"/>
              </a:rPr>
              <a:t>Měření dělají čtyři STM32C031, pravidla a LED řídí ESP32-C6.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11094415" cy="12700"/>
          </a:xfrm>
          <a:prstGeom prst="rect">
            <a:avLst/>
          </a:prstGeom>
          <a:solidFill>
            <a:srgbClr val="C8C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9441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Osm krát osm polí je příliš mnoho kanálů na jeden mikrokontrolér s pohodlným ADC. Proto jsou čtyři STM32C031 — každý obsluhuje čtvrtinu šachovnice a přes I2C hlásí už rozpoznanou figurku (typ a barva), ne proud surových vzorků.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ESP32-C6 drží šachová pravidla, stav partie a LED odpověď. Rozdělení je jasné: snímání na STM32, inteligence hry na ESP.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A5A5A"/>
                </a:solidFill>
                <a:latin typeface="Calibri"/>
              </a:rP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9441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3A5F"/>
                </a:solidFill>
                <a:latin typeface="Calibri"/>
              </a:rPr>
              <a:t>ESP32-C6 umí naprogramovat všechny čtyři STM32 ze stejné I2C sběrnice.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11094415" cy="12700"/>
          </a:xfrm>
          <a:prstGeom prst="rect">
            <a:avLst/>
          </a:prstGeom>
          <a:solidFill>
            <a:srgbClr val="C8C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6217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SDA, SCL a BOOT0 jsou sdílené; každý čip má vlastní NRST. Bootloader má adresu 0x63, proto smí být mimo reset vždy jen jeden STM32 — jinak by se na sběrnici srazily odpovědi. ESP drží ostatní v resetu, flashuje vybraný čip a pak přepne na další.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Stejná sběrnice slouží později i pro běh: měření a aktualizace firmwaru bez výměny kabelů.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0" y="1691640"/>
            <a:ext cx="4114800" cy="3840480"/>
          </a:xfrm>
          <a:prstGeom prst="rect">
            <a:avLst/>
          </a:prstGeom>
          <a:solidFill>
            <a:srgbClr val="E8EAED"/>
          </a:solidFill>
          <a:ln w="12700">
            <a:solidFill>
              <a:srgbClr val="B0B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0" y="560527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5A5A"/>
                </a:solidFill>
                <a:latin typeface="Calibri"/>
              </a:rPr>
              <a:t>[schéma: I2C — sdílené SDA/SCL/BOOT0, unikátní NRST]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A5A5A"/>
                </a:solidFill>
                <a:latin typeface="Calibri"/>
              </a:rP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9441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3A5F"/>
                </a:solidFill>
                <a:latin typeface="Calibri"/>
              </a:rPr>
              <a:t>Jeden tah na desce vede od zvednutí figurky až po přijetí nebo odmítnutí.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11094415" cy="12700"/>
          </a:xfrm>
          <a:prstGeom prst="rect">
            <a:avLst/>
          </a:prstGeom>
          <a:solidFill>
            <a:srgbClr val="C8C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9441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Hráč zvedne figurku — deska si pamatuje typ a barvu. Zobrazí zeleně legální cíle. Po položení firmware ověří, že na cíli stojí očekávaná figurka a že tah odpovídá pravidlům. Legální tah se přijme a stav partie se aktualizuje; nelegální se odmítne a světlo vyzve k opravě.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Celý cyklus běží lokálně na ESP — bez nutnosti potvrzovat tah v aplikaci.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A5A5A"/>
                </a:solidFill>
                <a:latin typeface="Calibri"/>
              </a:rP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9441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3A5F"/>
                </a:solidFill>
                <a:latin typeface="Calibri"/>
              </a:rPr>
              <a:t>Deska chybu neschová — nelegální tah, špatná figurka, šach i mat ukáže hned.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11094415" cy="12700"/>
          </a:xfrm>
          <a:prstGeom prst="rect">
            <a:avLst/>
          </a:prstGeom>
          <a:solidFill>
            <a:srgbClr val="C8C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9441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Když hráč položí figurku na pole, kam nesmí, deska tah nepřijme. Když na cíl dorazí jiný typ, než který se zvedl, systém to pozná z Hallů. Šach a mat se vyhodnocují ve stejném herním jádru jako legálnost tahu.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Chyba tedy není tichá — hráč ji vidí na polích a musí ji fyzicky napravit, než partie pokračuje.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A5A5A"/>
                </a:solidFill>
                <a:latin typeface="Calibri"/>
              </a:rP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9441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3A5F"/>
                </a:solidFill>
                <a:latin typeface="Calibri"/>
              </a:rPr>
              <a:t>Světlo na polích je přímá odpověď desky na to, co hráč právě dělá.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11094415" cy="12700"/>
          </a:xfrm>
          <a:prstGeom prst="rect">
            <a:avLst/>
          </a:prstGeom>
          <a:solidFill>
            <a:srgbClr val="C8C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6217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Zelená typicky značí legální cíl, červená nebo výrazná chyba nelegální tah či špatnou figurku, další barvy vedou šach, mat a obnovu pozice. LED pásek bere samostatné externí 5 V, aby proud diod nezatěžoval logiku ESP a STM32.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Hráč nemusí číst displej — stačí se dívat na desku.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0" y="1691640"/>
            <a:ext cx="4114800" cy="3840480"/>
          </a:xfrm>
          <a:prstGeom prst="rect">
            <a:avLst/>
          </a:prstGeom>
          <a:solidFill>
            <a:srgbClr val="E8EAED"/>
          </a:solidFill>
          <a:ln w="12700">
            <a:solidFill>
              <a:srgbClr val="B0B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0" y="560527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5A5A"/>
                </a:solidFill>
                <a:latin typeface="Calibri"/>
              </a:rPr>
              <a:t>[fotka: LED na deskách při legálním tahu / chybě]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A5A5A"/>
                </a:solidFill>
                <a:latin typeface="Calibri"/>
              </a:rP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9441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3A5F"/>
                </a:solidFill>
                <a:latin typeface="Calibri"/>
              </a:rPr>
              <a:t>Prohlížeč i telefon slouží jako pohled na partii, ne jako mozek desky.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11094415" cy="12700"/>
          </a:xfrm>
          <a:prstGeom prst="rect">
            <a:avLst/>
          </a:prstGeom>
          <a:solidFill>
            <a:srgbClr val="C8C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9441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Na ESP běží HTTP API a webové rozhraní — stav šachovnice a příkazy jdou přes síť. Flutter aplikace CzechMate ukazuje tutéž partii na telefonu: FEN, tahy, nastavení.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Pravidla a rozpoznání figurek zůstávají ve firmwaru. Aplikace je displej a ovládání, ne náhrada elektroniky na stole.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A5A5A"/>
                </a:solidFill>
                <a:latin typeface="Calibri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9441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3A5F"/>
                </a:solidFill>
                <a:latin typeface="Calibri"/>
              </a:rPr>
              <a:t>Tři praktické problémy rozhodly, jak deska vypadá dnes.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11094415" cy="12700"/>
          </a:xfrm>
          <a:prstGeom prst="rect">
            <a:avLst/>
          </a:prstGeom>
          <a:solidFill>
            <a:srgbClr val="C8C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109441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Šum při snímání: prahová okna z laboratoře nestačila. Na hotové desce jsem doladil hysterezi a debounce — typ figurky se přestal přepínat při pokládání.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Proud LED: desítky diod potřebují vlastní 5 V větev. Externí napájení drží jas bez poklesu napětí na logice.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Flash čtyř STM32: společná bootloader adresa a omezená velikost firmwaru. Řešením je jeden čip mimo reset a úsporný kód na C031 — aktualizace běží z ESP po I2C.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A5A5A"/>
                </a:solidFill>
                <a:latin typeface="Calibri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9441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3A5F"/>
                </a:solidFill>
                <a:latin typeface="Calibri"/>
              </a:rPr>
              <a:t>CzechMate slouží ke hře a k učení šachů u fyzické šachovnice.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11094415" cy="12700"/>
          </a:xfrm>
          <a:prstGeom prst="rect">
            <a:avLst/>
          </a:prstGeom>
          <a:solidFill>
            <a:srgbClr val="C8C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9441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Začátečník vidí legální tahy přímo na polích a nemusí si pamatovat všechna pravidla najednou. Pokročilejší hráč dostane poctivou partii s kontrolou tahů bez přepisování do aplikace.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Projekt je elektrotechnická a softwarová práce pro šachy a výuku — není to zdravotnická pomůcka ani nárok na asistivní zdravotní účel.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A5A5A"/>
                </a:solidFill>
                <a:latin typeface="Calibri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9441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3A5F"/>
                </a:solidFill>
                <a:latin typeface="Calibri"/>
              </a:rPr>
              <a:t>Ve finále zapnu tuhle desku a ukážu celý tah naživo.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11094415" cy="12700"/>
          </a:xfrm>
          <a:prstGeom prst="rect">
            <a:avLst/>
          </a:prstGeom>
          <a:solidFill>
            <a:srgbClr val="C8C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9441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Na stole bude hotová V2: zvednu figurku, ukážu zelené legální cíle, položím tah a deska ho přijme. Pak zkusím nelegální pole — světlo odmítne a vyzve k opravě. Krátce ukážu rozpoznání typu (např. pěšec versus věž) a stav v prohlížeči nebo telefonu.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Cíl live části: rozhodčí uvidí snímání, pravidla i LED odpověď jako jeden celek.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A5A5A"/>
                </a:solidFill>
                <a:latin typeface="Calibri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9441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3A5F"/>
                </a:solidFill>
                <a:latin typeface="Calibri"/>
              </a:rPr>
              <a:t>CzechMate V2 je hotová elektronická šachovnice s rozpoznáním figurek.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11094415" cy="12700"/>
          </a:xfrm>
          <a:prstGeom prst="rect">
            <a:avLst/>
          </a:prstGeom>
          <a:solidFill>
            <a:srgbClr val="C8C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109441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Hallovy senzory a čtyři STM32 dodají typ a barvu; ESP32-C6 drží pravidla a světelnou odpověď.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Deska umí přijmout legální tah a odmítnout chybu — bez přepisování partie do telefonu.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Děkuji za pozornost. Rád odpovím na otázky k hardwaru, firmwaru i živé ukázce.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A5A5A"/>
                </a:solidFill>
                <a:latin typeface="Calibri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1084</Words>
  <Application>Microsoft Office PowerPoint</Application>
  <PresentationFormat>Widescreen</PresentationFormat>
  <Paragraphs>63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Krutina Alfréd</cp:lastModifiedBy>
  <cp:revision>2</cp:revision>
  <dcterms:created xsi:type="dcterms:W3CDTF">2013-01-27T09:14:16Z</dcterms:created>
  <dcterms:modified xsi:type="dcterms:W3CDTF">2026-10-12T20:44:39Z</dcterms:modified>
  <cp:category/>
</cp:coreProperties>
</file>